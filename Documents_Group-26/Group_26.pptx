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grandir Bold" charset="1" panose="00000800000000000000"/>
      <p:regular r:id="rId12"/>
    </p:embeddedFont>
    <p:embeddedFont>
      <p:font typeface="Poppins Bold" charset="1" panose="00000800000000000000"/>
      <p:regular r:id="rId13"/>
    </p:embeddedFont>
    <p:embeddedFont>
      <p:font typeface="Poppins" charset="1" panose="00000500000000000000"/>
      <p:regular r:id="rId14"/>
    </p:embeddedFont>
    <p:embeddedFont>
      <p:font typeface="Poppins Semi-Bold" charset="1" panose="000007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jpe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1.bin" Type="http://schemas.openxmlformats.org/officeDocument/2006/relationships/oleObject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42386">
            <a:off x="-965435" y="2869367"/>
            <a:ext cx="10917604" cy="5545209"/>
          </a:xfrm>
          <a:custGeom>
            <a:avLst/>
            <a:gdLst/>
            <a:ahLst/>
            <a:cxnLst/>
            <a:rect r="r" b="b" t="t" l="l"/>
            <a:pathLst>
              <a:path h="5545209" w="10917604">
                <a:moveTo>
                  <a:pt x="0" y="0"/>
                </a:moveTo>
                <a:lnTo>
                  <a:pt x="10917604" y="0"/>
                </a:lnTo>
                <a:lnTo>
                  <a:pt x="10917604" y="5545209"/>
                </a:lnTo>
                <a:lnTo>
                  <a:pt x="0" y="5545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-2912" r="0" b="-29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20366" y="1196975"/>
            <a:ext cx="3421312" cy="696703"/>
          </a:xfrm>
          <a:custGeom>
            <a:avLst/>
            <a:gdLst/>
            <a:ahLst/>
            <a:cxnLst/>
            <a:rect r="r" b="b" t="t" l="l"/>
            <a:pathLst>
              <a:path h="696703" w="3421312">
                <a:moveTo>
                  <a:pt x="0" y="0"/>
                </a:moveTo>
                <a:lnTo>
                  <a:pt x="3421312" y="0"/>
                </a:lnTo>
                <a:lnTo>
                  <a:pt x="3421312" y="696704"/>
                </a:lnTo>
                <a:lnTo>
                  <a:pt x="0" y="6967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25771">
            <a:off x="14575428" y="-403192"/>
            <a:ext cx="7290496" cy="11702538"/>
            <a:chOff x="0" y="0"/>
            <a:chExt cx="1920131" cy="3082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131" cy="3082150"/>
            </a:xfrm>
            <a:custGeom>
              <a:avLst/>
              <a:gdLst/>
              <a:ahLst/>
              <a:cxnLst/>
              <a:rect r="r" b="b" t="t" l="l"/>
              <a:pathLst>
                <a:path h="3082150" w="1920131">
                  <a:moveTo>
                    <a:pt x="0" y="0"/>
                  </a:moveTo>
                  <a:lnTo>
                    <a:pt x="1920131" y="0"/>
                  </a:lnTo>
                  <a:lnTo>
                    <a:pt x="1920131" y="3082150"/>
                  </a:lnTo>
                  <a:lnTo>
                    <a:pt x="0" y="3082150"/>
                  </a:lnTo>
                  <a:close/>
                </a:path>
              </a:pathLst>
            </a:custGeom>
            <a:solidFill>
              <a:srgbClr val="11204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920131" cy="316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903041" y="649144"/>
            <a:ext cx="4761128" cy="2884085"/>
            <a:chOff x="0" y="0"/>
            <a:chExt cx="1230376" cy="745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0376" cy="745309"/>
            </a:xfrm>
            <a:custGeom>
              <a:avLst/>
              <a:gdLst/>
              <a:ahLst/>
              <a:cxnLst/>
              <a:rect r="r" b="b" t="t" l="l"/>
              <a:pathLst>
                <a:path h="745309" w="1230376">
                  <a:moveTo>
                    <a:pt x="65043" y="0"/>
                  </a:moveTo>
                  <a:lnTo>
                    <a:pt x="1165334" y="0"/>
                  </a:lnTo>
                  <a:cubicBezTo>
                    <a:pt x="1182584" y="0"/>
                    <a:pt x="1199128" y="6853"/>
                    <a:pt x="1211326" y="19051"/>
                  </a:cubicBezTo>
                  <a:cubicBezTo>
                    <a:pt x="1223524" y="31248"/>
                    <a:pt x="1230376" y="47792"/>
                    <a:pt x="1230376" y="65043"/>
                  </a:cubicBezTo>
                  <a:lnTo>
                    <a:pt x="1230376" y="680266"/>
                  </a:lnTo>
                  <a:cubicBezTo>
                    <a:pt x="1230376" y="716188"/>
                    <a:pt x="1201256" y="745309"/>
                    <a:pt x="1165334" y="745309"/>
                  </a:cubicBezTo>
                  <a:lnTo>
                    <a:pt x="65043" y="745309"/>
                  </a:lnTo>
                  <a:cubicBezTo>
                    <a:pt x="47792" y="745309"/>
                    <a:pt x="31248" y="738456"/>
                    <a:pt x="19051" y="726258"/>
                  </a:cubicBezTo>
                  <a:cubicBezTo>
                    <a:pt x="6853" y="714060"/>
                    <a:pt x="0" y="697517"/>
                    <a:pt x="0" y="680266"/>
                  </a:cubicBezTo>
                  <a:lnTo>
                    <a:pt x="0" y="65043"/>
                  </a:lnTo>
                  <a:cubicBezTo>
                    <a:pt x="0" y="47792"/>
                    <a:pt x="6853" y="31248"/>
                    <a:pt x="19051" y="19051"/>
                  </a:cubicBezTo>
                  <a:cubicBezTo>
                    <a:pt x="31248" y="6853"/>
                    <a:pt x="47792" y="0"/>
                    <a:pt x="6504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755" r="0" b="-375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24542" y="6402930"/>
            <a:ext cx="5234758" cy="2107316"/>
            <a:chOff x="0" y="0"/>
            <a:chExt cx="1230376" cy="4953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0376" cy="495303"/>
            </a:xfrm>
            <a:custGeom>
              <a:avLst/>
              <a:gdLst/>
              <a:ahLst/>
              <a:cxnLst/>
              <a:rect r="r" b="b" t="t" l="l"/>
              <a:pathLst>
                <a:path h="495303" w="1230376">
                  <a:moveTo>
                    <a:pt x="59158" y="0"/>
                  </a:moveTo>
                  <a:lnTo>
                    <a:pt x="1171219" y="0"/>
                  </a:lnTo>
                  <a:cubicBezTo>
                    <a:pt x="1186908" y="0"/>
                    <a:pt x="1201955" y="6233"/>
                    <a:pt x="1213050" y="17327"/>
                  </a:cubicBezTo>
                  <a:cubicBezTo>
                    <a:pt x="1224144" y="28421"/>
                    <a:pt x="1230376" y="43468"/>
                    <a:pt x="1230376" y="59158"/>
                  </a:cubicBezTo>
                  <a:lnTo>
                    <a:pt x="1230376" y="436145"/>
                  </a:lnTo>
                  <a:cubicBezTo>
                    <a:pt x="1230376" y="451835"/>
                    <a:pt x="1224144" y="466882"/>
                    <a:pt x="1213050" y="477976"/>
                  </a:cubicBezTo>
                  <a:cubicBezTo>
                    <a:pt x="1201955" y="489070"/>
                    <a:pt x="1186908" y="495303"/>
                    <a:pt x="1171219" y="495303"/>
                  </a:cubicBezTo>
                  <a:lnTo>
                    <a:pt x="59158" y="495303"/>
                  </a:lnTo>
                  <a:cubicBezTo>
                    <a:pt x="43468" y="495303"/>
                    <a:pt x="28421" y="489070"/>
                    <a:pt x="17327" y="477976"/>
                  </a:cubicBezTo>
                  <a:cubicBezTo>
                    <a:pt x="6233" y="466882"/>
                    <a:pt x="0" y="451835"/>
                    <a:pt x="0" y="436145"/>
                  </a:cubicBezTo>
                  <a:lnTo>
                    <a:pt x="0" y="59158"/>
                  </a:lnTo>
                  <a:cubicBezTo>
                    <a:pt x="0" y="43468"/>
                    <a:pt x="6233" y="28421"/>
                    <a:pt x="17327" y="17327"/>
                  </a:cubicBezTo>
                  <a:cubicBezTo>
                    <a:pt x="28421" y="6233"/>
                    <a:pt x="43468" y="0"/>
                    <a:pt x="5915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0641" r="0" b="-2064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52994" y="1545327"/>
            <a:ext cx="4576813" cy="545860"/>
            <a:chOff x="0" y="0"/>
            <a:chExt cx="1205416" cy="1437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5416" cy="143766"/>
            </a:xfrm>
            <a:custGeom>
              <a:avLst/>
              <a:gdLst/>
              <a:ahLst/>
              <a:cxnLst/>
              <a:rect r="r" b="b" t="t" l="l"/>
              <a:pathLst>
                <a:path h="143766" w="1205416">
                  <a:moveTo>
                    <a:pt x="71883" y="0"/>
                  </a:moveTo>
                  <a:lnTo>
                    <a:pt x="1133533" y="0"/>
                  </a:lnTo>
                  <a:cubicBezTo>
                    <a:pt x="1152597" y="0"/>
                    <a:pt x="1170881" y="7573"/>
                    <a:pt x="1184362" y="21054"/>
                  </a:cubicBezTo>
                  <a:cubicBezTo>
                    <a:pt x="1197842" y="34535"/>
                    <a:pt x="1205416" y="52818"/>
                    <a:pt x="1205416" y="71883"/>
                  </a:cubicBezTo>
                  <a:lnTo>
                    <a:pt x="1205416" y="71883"/>
                  </a:lnTo>
                  <a:cubicBezTo>
                    <a:pt x="1205416" y="90947"/>
                    <a:pt x="1197842" y="109231"/>
                    <a:pt x="1184362" y="122712"/>
                  </a:cubicBezTo>
                  <a:cubicBezTo>
                    <a:pt x="1170881" y="136192"/>
                    <a:pt x="1152597" y="143766"/>
                    <a:pt x="1133533" y="143766"/>
                  </a:cubicBezTo>
                  <a:lnTo>
                    <a:pt x="71883" y="143766"/>
                  </a:lnTo>
                  <a:cubicBezTo>
                    <a:pt x="52818" y="143766"/>
                    <a:pt x="34535" y="136192"/>
                    <a:pt x="21054" y="122712"/>
                  </a:cubicBezTo>
                  <a:cubicBezTo>
                    <a:pt x="7573" y="109231"/>
                    <a:pt x="0" y="90947"/>
                    <a:pt x="0" y="71883"/>
                  </a:cubicBezTo>
                  <a:lnTo>
                    <a:pt x="0" y="71883"/>
                  </a:lnTo>
                  <a:cubicBezTo>
                    <a:pt x="0" y="52818"/>
                    <a:pt x="7573" y="34535"/>
                    <a:pt x="21054" y="21054"/>
                  </a:cubicBezTo>
                  <a:cubicBezTo>
                    <a:pt x="34535" y="7573"/>
                    <a:pt x="52818" y="0"/>
                    <a:pt x="71883" y="0"/>
                  </a:cubicBezTo>
                  <a:close/>
                </a:path>
              </a:pathLst>
            </a:custGeom>
            <a:solidFill>
              <a:srgbClr val="11204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205416" cy="229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187898" y="9079230"/>
            <a:ext cx="3820012" cy="777893"/>
          </a:xfrm>
          <a:custGeom>
            <a:avLst/>
            <a:gdLst/>
            <a:ahLst/>
            <a:cxnLst/>
            <a:rect r="r" b="b" t="t" l="l"/>
            <a:pathLst>
              <a:path h="777893" w="3820012">
                <a:moveTo>
                  <a:pt x="0" y="0"/>
                </a:moveTo>
                <a:lnTo>
                  <a:pt x="3820012" y="0"/>
                </a:lnTo>
                <a:lnTo>
                  <a:pt x="3820012" y="777893"/>
                </a:lnTo>
                <a:lnTo>
                  <a:pt x="0" y="7778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769282" y="4893164"/>
            <a:ext cx="980036" cy="980036"/>
          </a:xfrm>
          <a:custGeom>
            <a:avLst/>
            <a:gdLst/>
            <a:ahLst/>
            <a:cxnLst/>
            <a:rect r="r" b="b" t="t" l="l"/>
            <a:pathLst>
              <a:path h="980036" w="980036">
                <a:moveTo>
                  <a:pt x="0" y="0"/>
                </a:moveTo>
                <a:lnTo>
                  <a:pt x="980036" y="0"/>
                </a:lnTo>
                <a:lnTo>
                  <a:pt x="980036" y="980036"/>
                </a:lnTo>
                <a:lnTo>
                  <a:pt x="0" y="9800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22108" y="8798866"/>
            <a:ext cx="560728" cy="560728"/>
          </a:xfrm>
          <a:custGeom>
            <a:avLst/>
            <a:gdLst/>
            <a:ahLst/>
            <a:cxnLst/>
            <a:rect r="r" b="b" t="t" l="l"/>
            <a:pathLst>
              <a:path h="560728" w="560728">
                <a:moveTo>
                  <a:pt x="0" y="0"/>
                </a:moveTo>
                <a:lnTo>
                  <a:pt x="560728" y="0"/>
                </a:lnTo>
                <a:lnTo>
                  <a:pt x="560728" y="560728"/>
                </a:lnTo>
                <a:lnTo>
                  <a:pt x="0" y="5607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52994" y="2356869"/>
            <a:ext cx="16945145" cy="615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8"/>
              </a:lnSpc>
            </a:pPr>
            <a:r>
              <a:rPr lang="en-US" sz="681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AI-Based Int</a:t>
            </a:r>
            <a:r>
              <a:rPr lang="en-US" sz="681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elligent ERP </a:t>
            </a:r>
          </a:p>
          <a:p>
            <a:pPr algn="l">
              <a:lnSpc>
                <a:spcPts val="9538"/>
              </a:lnSpc>
            </a:pPr>
            <a:r>
              <a:rPr lang="en-US" sz="681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Decision Support System For </a:t>
            </a:r>
          </a:p>
          <a:p>
            <a:pPr algn="l">
              <a:lnSpc>
                <a:spcPts val="9538"/>
              </a:lnSpc>
            </a:pPr>
            <a:r>
              <a:rPr lang="en-US" sz="681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Small and Medium Enterprises</a:t>
            </a:r>
          </a:p>
          <a:p>
            <a:pPr algn="l">
              <a:lnSpc>
                <a:spcPts val="9538"/>
              </a:lnSpc>
            </a:pPr>
            <a:r>
              <a:rPr lang="en-US" sz="6812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(SMEs)</a:t>
            </a:r>
          </a:p>
          <a:p>
            <a:pPr algn="l">
              <a:lnSpc>
                <a:spcPts val="9538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598889" y="8124484"/>
            <a:ext cx="2066449" cy="69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Group 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31441">
            <a:off x="-581518" y="-2090783"/>
            <a:ext cx="2105414" cy="5934133"/>
            <a:chOff x="0" y="0"/>
            <a:chExt cx="554512" cy="15628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4512" cy="1562899"/>
            </a:xfrm>
            <a:custGeom>
              <a:avLst/>
              <a:gdLst/>
              <a:ahLst/>
              <a:cxnLst/>
              <a:rect r="r" b="b" t="t" l="l"/>
              <a:pathLst>
                <a:path h="1562899" w="554512">
                  <a:moveTo>
                    <a:pt x="0" y="0"/>
                  </a:moveTo>
                  <a:lnTo>
                    <a:pt x="554512" y="0"/>
                  </a:lnTo>
                  <a:lnTo>
                    <a:pt x="554512" y="1562899"/>
                  </a:lnTo>
                  <a:lnTo>
                    <a:pt x="0" y="1562899"/>
                  </a:lnTo>
                  <a:close/>
                </a:path>
              </a:pathLst>
            </a:custGeom>
            <a:solidFill>
              <a:srgbClr val="1120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54512" cy="1648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16435" y="2648954"/>
            <a:ext cx="5941722" cy="3713261"/>
            <a:chOff x="0" y="0"/>
            <a:chExt cx="1543938" cy="9648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3938" cy="964879"/>
            </a:xfrm>
            <a:custGeom>
              <a:avLst/>
              <a:gdLst/>
              <a:ahLst/>
              <a:cxnLst/>
              <a:rect r="r" b="b" t="t" l="l"/>
              <a:pathLst>
                <a:path h="964879" w="1543938">
                  <a:moveTo>
                    <a:pt x="78179" y="0"/>
                  </a:moveTo>
                  <a:lnTo>
                    <a:pt x="1465759" y="0"/>
                  </a:lnTo>
                  <a:cubicBezTo>
                    <a:pt x="1508936" y="0"/>
                    <a:pt x="1543938" y="35002"/>
                    <a:pt x="1543938" y="78179"/>
                  </a:cubicBezTo>
                  <a:lnTo>
                    <a:pt x="1543938" y="886701"/>
                  </a:lnTo>
                  <a:cubicBezTo>
                    <a:pt x="1543938" y="929878"/>
                    <a:pt x="1508936" y="964879"/>
                    <a:pt x="1465759" y="964879"/>
                  </a:cubicBezTo>
                  <a:lnTo>
                    <a:pt x="78179" y="964879"/>
                  </a:lnTo>
                  <a:cubicBezTo>
                    <a:pt x="35002" y="964879"/>
                    <a:pt x="0" y="929878"/>
                    <a:pt x="0" y="886701"/>
                  </a:cubicBezTo>
                  <a:lnTo>
                    <a:pt x="0" y="78179"/>
                  </a:lnTo>
                  <a:cubicBezTo>
                    <a:pt x="0" y="35002"/>
                    <a:pt x="35002" y="0"/>
                    <a:pt x="7817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304" r="0" b="-330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6818877">
            <a:off x="16072148" y="8911697"/>
            <a:ext cx="2105414" cy="3191038"/>
            <a:chOff x="0" y="0"/>
            <a:chExt cx="554512" cy="840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4512" cy="840438"/>
            </a:xfrm>
            <a:custGeom>
              <a:avLst/>
              <a:gdLst/>
              <a:ahLst/>
              <a:cxnLst/>
              <a:rect r="r" b="b" t="t" l="l"/>
              <a:pathLst>
                <a:path h="840438" w="554512">
                  <a:moveTo>
                    <a:pt x="0" y="0"/>
                  </a:moveTo>
                  <a:lnTo>
                    <a:pt x="554512" y="0"/>
                  </a:lnTo>
                  <a:lnTo>
                    <a:pt x="554512" y="840438"/>
                  </a:lnTo>
                  <a:lnTo>
                    <a:pt x="0" y="840438"/>
                  </a:lnTo>
                  <a:close/>
                </a:path>
              </a:pathLst>
            </a:custGeom>
            <a:solidFill>
              <a:srgbClr val="11204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554512" cy="926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192550" y="4524977"/>
            <a:ext cx="647771" cy="960939"/>
          </a:xfrm>
          <a:custGeom>
            <a:avLst/>
            <a:gdLst/>
            <a:ahLst/>
            <a:cxnLst/>
            <a:rect r="r" b="b" t="t" l="l"/>
            <a:pathLst>
              <a:path h="960939" w="647771">
                <a:moveTo>
                  <a:pt x="0" y="0"/>
                </a:moveTo>
                <a:lnTo>
                  <a:pt x="647770" y="0"/>
                </a:lnTo>
                <a:lnTo>
                  <a:pt x="647770" y="960939"/>
                </a:lnTo>
                <a:lnTo>
                  <a:pt x="0" y="960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181004" y="1028700"/>
            <a:ext cx="5539447" cy="3736609"/>
          </a:xfrm>
          <a:custGeom>
            <a:avLst/>
            <a:gdLst/>
            <a:ahLst/>
            <a:cxnLst/>
            <a:rect r="r" b="b" t="t" l="l"/>
            <a:pathLst>
              <a:path h="3736609" w="5539447">
                <a:moveTo>
                  <a:pt x="0" y="0"/>
                </a:moveTo>
                <a:lnTo>
                  <a:pt x="5539447" y="0"/>
                </a:lnTo>
                <a:lnTo>
                  <a:pt x="5539447" y="3736609"/>
                </a:lnTo>
                <a:lnTo>
                  <a:pt x="0" y="3736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751924" y="8330904"/>
            <a:ext cx="2749693" cy="1854793"/>
          </a:xfrm>
          <a:custGeom>
            <a:avLst/>
            <a:gdLst/>
            <a:ahLst/>
            <a:cxnLst/>
            <a:rect r="r" b="b" t="t" l="l"/>
            <a:pathLst>
              <a:path h="1854793" w="2749693">
                <a:moveTo>
                  <a:pt x="0" y="0"/>
                </a:moveTo>
                <a:lnTo>
                  <a:pt x="2749693" y="0"/>
                </a:lnTo>
                <a:lnTo>
                  <a:pt x="2749693" y="1854792"/>
                </a:lnTo>
                <a:lnTo>
                  <a:pt x="0" y="18547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773956" y="213943"/>
            <a:ext cx="447626" cy="1181889"/>
          </a:xfrm>
          <a:custGeom>
            <a:avLst/>
            <a:gdLst/>
            <a:ahLst/>
            <a:cxnLst/>
            <a:rect r="r" b="b" t="t" l="l"/>
            <a:pathLst>
              <a:path h="1181889" w="447626">
                <a:moveTo>
                  <a:pt x="0" y="0"/>
                </a:moveTo>
                <a:lnTo>
                  <a:pt x="447626" y="0"/>
                </a:lnTo>
                <a:lnTo>
                  <a:pt x="447626" y="1181889"/>
                </a:lnTo>
                <a:lnTo>
                  <a:pt x="0" y="11818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92272" y="457249"/>
            <a:ext cx="899362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 Introduction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5400000">
            <a:off x="15407339" y="8891168"/>
            <a:ext cx="447626" cy="1181889"/>
          </a:xfrm>
          <a:custGeom>
            <a:avLst/>
            <a:gdLst/>
            <a:ahLst/>
            <a:cxnLst/>
            <a:rect r="r" b="b" t="t" l="l"/>
            <a:pathLst>
              <a:path h="1181889" w="447626">
                <a:moveTo>
                  <a:pt x="0" y="0"/>
                </a:moveTo>
                <a:lnTo>
                  <a:pt x="447626" y="0"/>
                </a:lnTo>
                <a:lnTo>
                  <a:pt x="447626" y="1181889"/>
                </a:lnTo>
                <a:lnTo>
                  <a:pt x="0" y="11818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06824" y="1975472"/>
            <a:ext cx="9527811" cy="461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  <a:p>
            <a:pPr algn="l">
              <a:lnSpc>
                <a:spcPts val="3359"/>
              </a:lnSpc>
            </a:pP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AI-based ERP decision support system for Small and Medium Enterprises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Focuses on inventory management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Integrate</a:t>
            </a: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 ERP data with Artificial Intelligence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Helps managers understand current and future inventory conditions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Provides data-driven recommendations instead of only displaying data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406824" y="6924663"/>
            <a:ext cx="8934107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Three Main AI Components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Machine Learning → Demand Forecasting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Fuzzy Logic → Inventory </a:t>
            </a: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Risk Assessment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Ru</a:t>
            </a: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le-Based Reasoning → Reorder Recommendation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57187" y="2713957"/>
            <a:ext cx="4658817" cy="2291055"/>
            <a:chOff x="0" y="0"/>
            <a:chExt cx="1004918" cy="4941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86412" y="0"/>
                  </a:moveTo>
                  <a:lnTo>
                    <a:pt x="918505" y="0"/>
                  </a:lnTo>
                  <a:cubicBezTo>
                    <a:pt x="941423" y="0"/>
                    <a:pt x="963403" y="9104"/>
                    <a:pt x="979608" y="25310"/>
                  </a:cubicBezTo>
                  <a:cubicBezTo>
                    <a:pt x="995814" y="41515"/>
                    <a:pt x="1004918" y="63494"/>
                    <a:pt x="1004918" y="86412"/>
                  </a:cubicBezTo>
                  <a:lnTo>
                    <a:pt x="1004918" y="407774"/>
                  </a:lnTo>
                  <a:cubicBezTo>
                    <a:pt x="1004918" y="430692"/>
                    <a:pt x="995814" y="452671"/>
                    <a:pt x="979608" y="468876"/>
                  </a:cubicBezTo>
                  <a:cubicBezTo>
                    <a:pt x="963403" y="485082"/>
                    <a:pt x="941423" y="494186"/>
                    <a:pt x="918505" y="494186"/>
                  </a:cubicBezTo>
                  <a:lnTo>
                    <a:pt x="86412" y="494186"/>
                  </a:lnTo>
                  <a:cubicBezTo>
                    <a:pt x="63494" y="494186"/>
                    <a:pt x="41515" y="485082"/>
                    <a:pt x="25310" y="468876"/>
                  </a:cubicBezTo>
                  <a:cubicBezTo>
                    <a:pt x="9104" y="452671"/>
                    <a:pt x="0" y="430692"/>
                    <a:pt x="0" y="407774"/>
                  </a:cubicBezTo>
                  <a:lnTo>
                    <a:pt x="0" y="86412"/>
                  </a:lnTo>
                  <a:cubicBezTo>
                    <a:pt x="0" y="63494"/>
                    <a:pt x="9104" y="41515"/>
                    <a:pt x="25310" y="25310"/>
                  </a:cubicBezTo>
                  <a:cubicBezTo>
                    <a:pt x="41515" y="9104"/>
                    <a:pt x="63494" y="0"/>
                    <a:pt x="8641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827" r="0" b="-782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798895" y="8317666"/>
            <a:ext cx="3820012" cy="777893"/>
          </a:xfrm>
          <a:custGeom>
            <a:avLst/>
            <a:gdLst/>
            <a:ahLst/>
            <a:cxnLst/>
            <a:rect r="r" b="b" t="t" l="l"/>
            <a:pathLst>
              <a:path h="777893" w="3820012">
                <a:moveTo>
                  <a:pt x="0" y="0"/>
                </a:moveTo>
                <a:lnTo>
                  <a:pt x="3820012" y="0"/>
                </a:lnTo>
                <a:lnTo>
                  <a:pt x="3820012" y="777893"/>
                </a:lnTo>
                <a:lnTo>
                  <a:pt x="0" y="7778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276671" y="5454046"/>
            <a:ext cx="5522223" cy="2715650"/>
            <a:chOff x="0" y="0"/>
            <a:chExt cx="1004918" cy="4941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72902" y="0"/>
                  </a:moveTo>
                  <a:lnTo>
                    <a:pt x="932016" y="0"/>
                  </a:lnTo>
                  <a:cubicBezTo>
                    <a:pt x="972279" y="0"/>
                    <a:pt x="1004918" y="32639"/>
                    <a:pt x="1004918" y="72902"/>
                  </a:cubicBezTo>
                  <a:lnTo>
                    <a:pt x="1004918" y="421284"/>
                  </a:lnTo>
                  <a:cubicBezTo>
                    <a:pt x="1004918" y="461547"/>
                    <a:pt x="972279" y="494186"/>
                    <a:pt x="932016" y="494186"/>
                  </a:cubicBezTo>
                  <a:lnTo>
                    <a:pt x="72902" y="494186"/>
                  </a:lnTo>
                  <a:cubicBezTo>
                    <a:pt x="32639" y="494186"/>
                    <a:pt x="0" y="461547"/>
                    <a:pt x="0" y="421284"/>
                  </a:cubicBezTo>
                  <a:lnTo>
                    <a:pt x="0" y="72902"/>
                  </a:lnTo>
                  <a:cubicBezTo>
                    <a:pt x="0" y="32639"/>
                    <a:pt x="32639" y="0"/>
                    <a:pt x="7290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7191" r="0" b="-719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328555">
            <a:off x="-6403549" y="-1128941"/>
            <a:ext cx="7793514" cy="12544882"/>
            <a:chOff x="0" y="0"/>
            <a:chExt cx="2052613" cy="33040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2613" cy="3304002"/>
            </a:xfrm>
            <a:custGeom>
              <a:avLst/>
              <a:gdLst/>
              <a:ahLst/>
              <a:cxnLst/>
              <a:rect r="r" b="b" t="t" l="l"/>
              <a:pathLst>
                <a:path h="3304002" w="2052613">
                  <a:moveTo>
                    <a:pt x="0" y="0"/>
                  </a:moveTo>
                  <a:lnTo>
                    <a:pt x="2052613" y="0"/>
                  </a:lnTo>
                  <a:lnTo>
                    <a:pt x="2052613" y="3304002"/>
                  </a:lnTo>
                  <a:lnTo>
                    <a:pt x="0" y="3304002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052613" cy="3389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747545" y="7627173"/>
            <a:ext cx="2968459" cy="2158879"/>
          </a:xfrm>
          <a:custGeom>
            <a:avLst/>
            <a:gdLst/>
            <a:ahLst/>
            <a:cxnLst/>
            <a:rect r="r" b="b" t="t" l="l"/>
            <a:pathLst>
              <a:path h="2158879" w="2968459">
                <a:moveTo>
                  <a:pt x="0" y="0"/>
                </a:moveTo>
                <a:lnTo>
                  <a:pt x="2968459" y="0"/>
                </a:lnTo>
                <a:lnTo>
                  <a:pt x="2968459" y="2158879"/>
                </a:lnTo>
                <a:lnTo>
                  <a:pt x="0" y="2158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31775" y="1333830"/>
            <a:ext cx="953399" cy="959097"/>
          </a:xfrm>
          <a:custGeom>
            <a:avLst/>
            <a:gdLst/>
            <a:ahLst/>
            <a:cxnLst/>
            <a:rect r="r" b="b" t="t" l="l"/>
            <a:pathLst>
              <a:path h="959097" w="953399">
                <a:moveTo>
                  <a:pt x="0" y="0"/>
                </a:moveTo>
                <a:lnTo>
                  <a:pt x="953399" y="0"/>
                </a:lnTo>
                <a:lnTo>
                  <a:pt x="953399" y="959097"/>
                </a:lnTo>
                <a:lnTo>
                  <a:pt x="0" y="959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037783" y="1397143"/>
            <a:ext cx="2914981" cy="552402"/>
          </a:xfrm>
          <a:custGeom>
            <a:avLst/>
            <a:gdLst/>
            <a:ahLst/>
            <a:cxnLst/>
            <a:rect r="r" b="b" t="t" l="l"/>
            <a:pathLst>
              <a:path h="552402" w="2914981">
                <a:moveTo>
                  <a:pt x="0" y="0"/>
                </a:moveTo>
                <a:lnTo>
                  <a:pt x="2914981" y="0"/>
                </a:lnTo>
                <a:lnTo>
                  <a:pt x="2914981" y="552402"/>
                </a:lnTo>
                <a:lnTo>
                  <a:pt x="0" y="5524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70745" y="2035175"/>
            <a:ext cx="13518472" cy="679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b="true" sz="2299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</a:t>
            </a:r>
            <a:r>
              <a:rPr lang="en-US" b="true" sz="2299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ons of Traditional ERP</a:t>
            </a:r>
          </a:p>
          <a:p>
            <a:pPr algn="l" marL="0" indent="0" lvl="0">
              <a:lnSpc>
                <a:spcPts val="3219"/>
              </a:lnSpc>
            </a:pPr>
          </a:p>
          <a:p>
            <a:pPr algn="l" marL="0" indent="0" lvl="0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Traditional ERP systems can: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Store product and inventory information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Record sales transactions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Display current stock levels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Manage supplier information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Provide basic inventory information</a:t>
            </a:r>
          </a:p>
          <a:p>
            <a:pPr algn="l">
              <a:lnSpc>
                <a:spcPts val="3219"/>
              </a:lnSpc>
            </a:pPr>
          </a:p>
          <a:p>
            <a:pPr algn="l" marL="0" indent="0" lvl="0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However, they may not provide enough intelligent support for: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Future demand prediction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Inventory risk assessment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Supplier lead-time consideration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Recommended reorder quantities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Data-driven inventory decisions of stock shortages</a:t>
            </a:r>
          </a:p>
          <a:p>
            <a:pPr algn="l" marL="0" indent="0" lvl="0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915829" y="744868"/>
            <a:ext cx="6360843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0473" y="6424921"/>
            <a:ext cx="5327527" cy="2119202"/>
            <a:chOff x="0" y="0"/>
            <a:chExt cx="1038683" cy="413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683" cy="413171"/>
            </a:xfrm>
            <a:custGeom>
              <a:avLst/>
              <a:gdLst/>
              <a:ahLst/>
              <a:cxnLst/>
              <a:rect r="r" b="b" t="t" l="l"/>
              <a:pathLst>
                <a:path h="413171" w="1038683">
                  <a:moveTo>
                    <a:pt x="72660" y="0"/>
                  </a:moveTo>
                  <a:lnTo>
                    <a:pt x="966023" y="0"/>
                  </a:lnTo>
                  <a:cubicBezTo>
                    <a:pt x="1006152" y="0"/>
                    <a:pt x="1038683" y="32531"/>
                    <a:pt x="1038683" y="72660"/>
                  </a:cubicBezTo>
                  <a:lnTo>
                    <a:pt x="1038683" y="340511"/>
                  </a:lnTo>
                  <a:cubicBezTo>
                    <a:pt x="1038683" y="380640"/>
                    <a:pt x="1006152" y="413171"/>
                    <a:pt x="966023" y="413171"/>
                  </a:cubicBezTo>
                  <a:lnTo>
                    <a:pt x="72660" y="413171"/>
                  </a:lnTo>
                  <a:cubicBezTo>
                    <a:pt x="32531" y="413171"/>
                    <a:pt x="0" y="380640"/>
                    <a:pt x="0" y="340511"/>
                  </a:cubicBezTo>
                  <a:lnTo>
                    <a:pt x="0" y="72660"/>
                  </a:lnTo>
                  <a:cubicBezTo>
                    <a:pt x="0" y="32531"/>
                    <a:pt x="32531" y="0"/>
                    <a:pt x="7266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0957" r="0" b="-46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5791" y="8346053"/>
            <a:ext cx="473931" cy="47393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0A0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V="true">
            <a:off x="2017117" y="3563002"/>
            <a:ext cx="0" cy="1583570"/>
          </a:xfrm>
          <a:prstGeom prst="line">
            <a:avLst/>
          </a:prstGeom>
          <a:ln cap="rnd" w="19050">
            <a:solidFill>
              <a:srgbClr val="CDD4D8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 flipV="true">
            <a:off x="2017117" y="5128966"/>
            <a:ext cx="0" cy="1488742"/>
          </a:xfrm>
          <a:prstGeom prst="line">
            <a:avLst/>
          </a:prstGeom>
          <a:ln cap="rnd" w="19050">
            <a:solidFill>
              <a:srgbClr val="CDD4D8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2017117" y="6582409"/>
            <a:ext cx="0" cy="1565650"/>
          </a:xfrm>
          <a:prstGeom prst="line">
            <a:avLst/>
          </a:prstGeom>
          <a:ln cap="rnd" w="19050">
            <a:solidFill>
              <a:srgbClr val="CDD4D8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-520501" y="8819984"/>
            <a:ext cx="2537618" cy="876632"/>
          </a:xfrm>
          <a:custGeom>
            <a:avLst/>
            <a:gdLst/>
            <a:ahLst/>
            <a:cxnLst/>
            <a:rect r="r" b="b" t="t" l="l"/>
            <a:pathLst>
              <a:path h="876632" w="2537618">
                <a:moveTo>
                  <a:pt x="0" y="0"/>
                </a:moveTo>
                <a:lnTo>
                  <a:pt x="2537618" y="0"/>
                </a:lnTo>
                <a:lnTo>
                  <a:pt x="2537618" y="876632"/>
                </a:lnTo>
                <a:lnTo>
                  <a:pt x="0" y="876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549406">
            <a:off x="-1392193" y="-2724063"/>
            <a:ext cx="2590371" cy="13348015"/>
            <a:chOff x="0" y="0"/>
            <a:chExt cx="682238" cy="35155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2238" cy="3515527"/>
            </a:xfrm>
            <a:custGeom>
              <a:avLst/>
              <a:gdLst/>
              <a:ahLst/>
              <a:cxnLst/>
              <a:rect r="r" b="b" t="t" l="l"/>
              <a:pathLst>
                <a:path h="3515527" w="682238">
                  <a:moveTo>
                    <a:pt x="0" y="0"/>
                  </a:moveTo>
                  <a:lnTo>
                    <a:pt x="682238" y="0"/>
                  </a:lnTo>
                  <a:lnTo>
                    <a:pt x="682238" y="3515527"/>
                  </a:lnTo>
                  <a:lnTo>
                    <a:pt x="0" y="3515527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682238" cy="3601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9406">
            <a:off x="17805173" y="3619070"/>
            <a:ext cx="1789592" cy="7003752"/>
            <a:chOff x="0" y="0"/>
            <a:chExt cx="471333" cy="18446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1333" cy="1844610"/>
            </a:xfrm>
            <a:custGeom>
              <a:avLst/>
              <a:gdLst/>
              <a:ahLst/>
              <a:cxnLst/>
              <a:rect r="r" b="b" t="t" l="l"/>
              <a:pathLst>
                <a:path h="1844610" w="471333">
                  <a:moveTo>
                    <a:pt x="0" y="0"/>
                  </a:moveTo>
                  <a:lnTo>
                    <a:pt x="471333" y="0"/>
                  </a:lnTo>
                  <a:lnTo>
                    <a:pt x="471333" y="1844610"/>
                  </a:lnTo>
                  <a:lnTo>
                    <a:pt x="0" y="1844610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471333" cy="1930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595791" y="492019"/>
            <a:ext cx="2174549" cy="751208"/>
          </a:xfrm>
          <a:custGeom>
            <a:avLst/>
            <a:gdLst/>
            <a:ahLst/>
            <a:cxnLst/>
            <a:rect r="r" b="b" t="t" l="l"/>
            <a:pathLst>
              <a:path h="751208" w="2174549">
                <a:moveTo>
                  <a:pt x="0" y="0"/>
                </a:moveTo>
                <a:lnTo>
                  <a:pt x="2174549" y="0"/>
                </a:lnTo>
                <a:lnTo>
                  <a:pt x="2174549" y="751208"/>
                </a:lnTo>
                <a:lnTo>
                  <a:pt x="0" y="7512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331580" y="5404272"/>
            <a:ext cx="804589" cy="804589"/>
          </a:xfrm>
          <a:custGeom>
            <a:avLst/>
            <a:gdLst/>
            <a:ahLst/>
            <a:cxnLst/>
            <a:rect r="r" b="b" t="t" l="l"/>
            <a:pathLst>
              <a:path h="804589" w="804589">
                <a:moveTo>
                  <a:pt x="0" y="0"/>
                </a:moveTo>
                <a:lnTo>
                  <a:pt x="804589" y="0"/>
                </a:lnTo>
                <a:lnTo>
                  <a:pt x="804589" y="804588"/>
                </a:lnTo>
                <a:lnTo>
                  <a:pt x="0" y="8045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67489" y="1968626"/>
            <a:ext cx="8831359" cy="7644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AI-Based Solution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1. Demand Forecasting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Historical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sales data</a:t>
            </a:r>
          </a:p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         </a:t>
            </a:r>
            <a:r>
              <a:rPr lang="en-US" b="true" sz="2299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↓</a:t>
            </a:r>
          </a:p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Predicted Demand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2. Inventory Risk</a:t>
            </a:r>
          </a:p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Fuzzy Logic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Stock + Demand + Lead Time</a:t>
            </a:r>
          </a:p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        </a:t>
            </a:r>
            <a:r>
              <a:rPr lang="en-US" b="true" sz="2299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↓</a:t>
            </a:r>
          </a:p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Risk Level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3. Reorder Recommendation</a:t>
            </a:r>
          </a:p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Rule-Based Reasoning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Demand + Stock + Risk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                    </a:t>
            </a:r>
            <a:r>
              <a:rPr lang="en-US" sz="22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Reorder Recommendation</a:t>
            </a:r>
          </a:p>
          <a:p>
            <a:pPr algn="l">
              <a:lnSpc>
                <a:spcPts val="321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610035" y="614260"/>
            <a:ext cx="13067930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We Solve the Problem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5400000">
            <a:off x="6659356" y="-254044"/>
            <a:ext cx="447626" cy="765214"/>
          </a:xfrm>
          <a:custGeom>
            <a:avLst/>
            <a:gdLst/>
            <a:ahLst/>
            <a:cxnLst/>
            <a:rect r="r" b="b" t="t" l="l"/>
            <a:pathLst>
              <a:path h="765214" w="447626">
                <a:moveTo>
                  <a:pt x="0" y="0"/>
                </a:moveTo>
                <a:lnTo>
                  <a:pt x="447626" y="0"/>
                </a:lnTo>
                <a:lnTo>
                  <a:pt x="447626" y="765214"/>
                </a:lnTo>
                <a:lnTo>
                  <a:pt x="0" y="7652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4452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9155950" y="9837718"/>
            <a:ext cx="447626" cy="765214"/>
          </a:xfrm>
          <a:custGeom>
            <a:avLst/>
            <a:gdLst/>
            <a:ahLst/>
            <a:cxnLst/>
            <a:rect r="r" b="b" t="t" l="l"/>
            <a:pathLst>
              <a:path h="765214" w="447626">
                <a:moveTo>
                  <a:pt x="0" y="0"/>
                </a:moveTo>
                <a:lnTo>
                  <a:pt x="447625" y="0"/>
                </a:lnTo>
                <a:lnTo>
                  <a:pt x="447625" y="765214"/>
                </a:lnTo>
                <a:lnTo>
                  <a:pt x="0" y="7652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4452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55539" y="7760383"/>
            <a:ext cx="5327527" cy="2119202"/>
            <a:chOff x="0" y="0"/>
            <a:chExt cx="1038683" cy="413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683" cy="413171"/>
            </a:xfrm>
            <a:custGeom>
              <a:avLst/>
              <a:gdLst/>
              <a:ahLst/>
              <a:cxnLst/>
              <a:rect r="r" b="b" t="t" l="l"/>
              <a:pathLst>
                <a:path h="413171" w="1038683">
                  <a:moveTo>
                    <a:pt x="72660" y="0"/>
                  </a:moveTo>
                  <a:lnTo>
                    <a:pt x="966023" y="0"/>
                  </a:lnTo>
                  <a:cubicBezTo>
                    <a:pt x="1006152" y="0"/>
                    <a:pt x="1038683" y="32531"/>
                    <a:pt x="1038683" y="72660"/>
                  </a:cubicBezTo>
                  <a:lnTo>
                    <a:pt x="1038683" y="340511"/>
                  </a:lnTo>
                  <a:cubicBezTo>
                    <a:pt x="1038683" y="380640"/>
                    <a:pt x="1006152" y="413171"/>
                    <a:pt x="966023" y="413171"/>
                  </a:cubicBezTo>
                  <a:lnTo>
                    <a:pt x="72660" y="413171"/>
                  </a:lnTo>
                  <a:cubicBezTo>
                    <a:pt x="32531" y="413171"/>
                    <a:pt x="0" y="380640"/>
                    <a:pt x="0" y="340511"/>
                  </a:cubicBezTo>
                  <a:lnTo>
                    <a:pt x="0" y="72660"/>
                  </a:lnTo>
                  <a:cubicBezTo>
                    <a:pt x="0" y="32531"/>
                    <a:pt x="32531" y="0"/>
                    <a:pt x="7266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0957" r="0" b="-46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5791" y="8346053"/>
            <a:ext cx="473931" cy="47393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0A0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V="true">
            <a:off x="2017117" y="3563002"/>
            <a:ext cx="0" cy="1583570"/>
          </a:xfrm>
          <a:prstGeom prst="line">
            <a:avLst/>
          </a:prstGeom>
          <a:ln cap="rnd" w="19050">
            <a:solidFill>
              <a:srgbClr val="CDD4D8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 flipV="true">
            <a:off x="2017117" y="5128966"/>
            <a:ext cx="0" cy="1488742"/>
          </a:xfrm>
          <a:prstGeom prst="line">
            <a:avLst/>
          </a:prstGeom>
          <a:ln cap="rnd" w="19050">
            <a:solidFill>
              <a:srgbClr val="CDD4D8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2017117" y="6582409"/>
            <a:ext cx="0" cy="1565650"/>
          </a:xfrm>
          <a:prstGeom prst="line">
            <a:avLst/>
          </a:prstGeom>
          <a:ln cap="rnd" w="19050">
            <a:solidFill>
              <a:srgbClr val="CDD4D8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-520501" y="8819984"/>
            <a:ext cx="2537618" cy="876632"/>
          </a:xfrm>
          <a:custGeom>
            <a:avLst/>
            <a:gdLst/>
            <a:ahLst/>
            <a:cxnLst/>
            <a:rect r="r" b="b" t="t" l="l"/>
            <a:pathLst>
              <a:path h="876632" w="2537618">
                <a:moveTo>
                  <a:pt x="0" y="0"/>
                </a:moveTo>
                <a:lnTo>
                  <a:pt x="2537618" y="0"/>
                </a:lnTo>
                <a:lnTo>
                  <a:pt x="2537618" y="876632"/>
                </a:lnTo>
                <a:lnTo>
                  <a:pt x="0" y="876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549406">
            <a:off x="-1392193" y="-2724063"/>
            <a:ext cx="2590371" cy="13348015"/>
            <a:chOff x="0" y="0"/>
            <a:chExt cx="682238" cy="35155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2238" cy="3515527"/>
            </a:xfrm>
            <a:custGeom>
              <a:avLst/>
              <a:gdLst/>
              <a:ahLst/>
              <a:cxnLst/>
              <a:rect r="r" b="b" t="t" l="l"/>
              <a:pathLst>
                <a:path h="3515527" w="682238">
                  <a:moveTo>
                    <a:pt x="0" y="0"/>
                  </a:moveTo>
                  <a:lnTo>
                    <a:pt x="682238" y="0"/>
                  </a:lnTo>
                  <a:lnTo>
                    <a:pt x="682238" y="3515527"/>
                  </a:lnTo>
                  <a:lnTo>
                    <a:pt x="0" y="3515527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682238" cy="3601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9406">
            <a:off x="17805173" y="3619070"/>
            <a:ext cx="1789592" cy="7003752"/>
            <a:chOff x="0" y="0"/>
            <a:chExt cx="471333" cy="18446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1333" cy="1844610"/>
            </a:xfrm>
            <a:custGeom>
              <a:avLst/>
              <a:gdLst/>
              <a:ahLst/>
              <a:cxnLst/>
              <a:rect r="r" b="b" t="t" l="l"/>
              <a:pathLst>
                <a:path h="1844610" w="471333">
                  <a:moveTo>
                    <a:pt x="0" y="0"/>
                  </a:moveTo>
                  <a:lnTo>
                    <a:pt x="471333" y="0"/>
                  </a:lnTo>
                  <a:lnTo>
                    <a:pt x="471333" y="1844610"/>
                  </a:lnTo>
                  <a:lnTo>
                    <a:pt x="0" y="1844610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471333" cy="1930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595791" y="492019"/>
            <a:ext cx="2174549" cy="751208"/>
          </a:xfrm>
          <a:custGeom>
            <a:avLst/>
            <a:gdLst/>
            <a:ahLst/>
            <a:cxnLst/>
            <a:rect r="r" b="b" t="t" l="l"/>
            <a:pathLst>
              <a:path h="751208" w="2174549">
                <a:moveTo>
                  <a:pt x="0" y="0"/>
                </a:moveTo>
                <a:lnTo>
                  <a:pt x="2174549" y="0"/>
                </a:lnTo>
                <a:lnTo>
                  <a:pt x="2174549" y="751208"/>
                </a:lnTo>
                <a:lnTo>
                  <a:pt x="0" y="7512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595791" y="6617708"/>
            <a:ext cx="804589" cy="804589"/>
          </a:xfrm>
          <a:custGeom>
            <a:avLst/>
            <a:gdLst/>
            <a:ahLst/>
            <a:cxnLst/>
            <a:rect r="r" b="b" t="t" l="l"/>
            <a:pathLst>
              <a:path h="804589" w="804589">
                <a:moveTo>
                  <a:pt x="0" y="0"/>
                </a:moveTo>
                <a:lnTo>
                  <a:pt x="804588" y="0"/>
                </a:lnTo>
                <a:lnTo>
                  <a:pt x="804588" y="804589"/>
                </a:lnTo>
                <a:lnTo>
                  <a:pt x="0" y="8045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6659356" y="-254044"/>
            <a:ext cx="447626" cy="765214"/>
          </a:xfrm>
          <a:custGeom>
            <a:avLst/>
            <a:gdLst/>
            <a:ahLst/>
            <a:cxnLst/>
            <a:rect r="r" b="b" t="t" l="l"/>
            <a:pathLst>
              <a:path h="765214" w="447626">
                <a:moveTo>
                  <a:pt x="0" y="0"/>
                </a:moveTo>
                <a:lnTo>
                  <a:pt x="447626" y="0"/>
                </a:lnTo>
                <a:lnTo>
                  <a:pt x="447626" y="765214"/>
                </a:lnTo>
                <a:lnTo>
                  <a:pt x="0" y="7652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4452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400000">
            <a:off x="9155950" y="9837718"/>
            <a:ext cx="447626" cy="765214"/>
          </a:xfrm>
          <a:custGeom>
            <a:avLst/>
            <a:gdLst/>
            <a:ahLst/>
            <a:cxnLst/>
            <a:rect r="r" b="b" t="t" l="l"/>
            <a:pathLst>
              <a:path h="765214" w="447626">
                <a:moveTo>
                  <a:pt x="0" y="0"/>
                </a:moveTo>
                <a:lnTo>
                  <a:pt x="447625" y="0"/>
                </a:lnTo>
                <a:lnTo>
                  <a:pt x="447625" y="765214"/>
                </a:lnTo>
                <a:lnTo>
                  <a:pt x="0" y="7652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4452" r="0" b="0"/>
            </a:stretch>
          </a:blipFill>
        </p:spPr>
      </p:sp>
      <p:graphicFrame>
        <p:nvGraphicFramePr>
          <p:cNvPr name="Object 21" id="21"/>
          <p:cNvGraphicFramePr/>
          <p:nvPr/>
        </p:nvGraphicFramePr>
        <p:xfrm>
          <a:off x="3099902" y="2414884"/>
          <a:ext cx="3771900" cy="3771900"/>
        </p:xfrm>
        <a:graphic>
          <a:graphicData uri="http://schemas.openxmlformats.org/presentationml/2006/ole">
            <p:oleObj imgW="4521200" imgH="45212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2" id="22"/>
          <p:cNvSpPr txBox="true"/>
          <p:nvPr/>
        </p:nvSpPr>
        <p:spPr>
          <a:xfrm rot="0">
            <a:off x="2610035" y="614260"/>
            <a:ext cx="13067930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Technologies Used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0473" y="6424921"/>
            <a:ext cx="5327527" cy="2119202"/>
            <a:chOff x="0" y="0"/>
            <a:chExt cx="1038683" cy="413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683" cy="413171"/>
            </a:xfrm>
            <a:custGeom>
              <a:avLst/>
              <a:gdLst/>
              <a:ahLst/>
              <a:cxnLst/>
              <a:rect r="r" b="b" t="t" l="l"/>
              <a:pathLst>
                <a:path h="413171" w="1038683">
                  <a:moveTo>
                    <a:pt x="72660" y="0"/>
                  </a:moveTo>
                  <a:lnTo>
                    <a:pt x="966023" y="0"/>
                  </a:lnTo>
                  <a:cubicBezTo>
                    <a:pt x="1006152" y="0"/>
                    <a:pt x="1038683" y="32531"/>
                    <a:pt x="1038683" y="72660"/>
                  </a:cubicBezTo>
                  <a:lnTo>
                    <a:pt x="1038683" y="340511"/>
                  </a:lnTo>
                  <a:cubicBezTo>
                    <a:pt x="1038683" y="380640"/>
                    <a:pt x="1006152" y="413171"/>
                    <a:pt x="966023" y="413171"/>
                  </a:cubicBezTo>
                  <a:lnTo>
                    <a:pt x="72660" y="413171"/>
                  </a:lnTo>
                  <a:cubicBezTo>
                    <a:pt x="32531" y="413171"/>
                    <a:pt x="0" y="380640"/>
                    <a:pt x="0" y="340511"/>
                  </a:cubicBezTo>
                  <a:lnTo>
                    <a:pt x="0" y="72660"/>
                  </a:lnTo>
                  <a:cubicBezTo>
                    <a:pt x="0" y="32531"/>
                    <a:pt x="32531" y="0"/>
                    <a:pt x="7266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0957" r="0" b="-46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95791" y="8346053"/>
            <a:ext cx="473931" cy="47393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0A0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V="true">
            <a:off x="2017117" y="3563002"/>
            <a:ext cx="0" cy="1583570"/>
          </a:xfrm>
          <a:prstGeom prst="line">
            <a:avLst/>
          </a:prstGeom>
          <a:ln cap="rnd" w="19050">
            <a:solidFill>
              <a:srgbClr val="CDD4D8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 flipV="true">
            <a:off x="2017117" y="5128966"/>
            <a:ext cx="0" cy="1488742"/>
          </a:xfrm>
          <a:prstGeom prst="line">
            <a:avLst/>
          </a:prstGeom>
          <a:ln cap="rnd" w="19050">
            <a:solidFill>
              <a:srgbClr val="CDD4D8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2017117" y="6582409"/>
            <a:ext cx="0" cy="1565650"/>
          </a:xfrm>
          <a:prstGeom prst="line">
            <a:avLst/>
          </a:prstGeom>
          <a:ln cap="rnd" w="19050">
            <a:solidFill>
              <a:srgbClr val="CDD4D8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-520501" y="8819984"/>
            <a:ext cx="2537618" cy="876632"/>
          </a:xfrm>
          <a:custGeom>
            <a:avLst/>
            <a:gdLst/>
            <a:ahLst/>
            <a:cxnLst/>
            <a:rect r="r" b="b" t="t" l="l"/>
            <a:pathLst>
              <a:path h="876632" w="2537618">
                <a:moveTo>
                  <a:pt x="0" y="0"/>
                </a:moveTo>
                <a:lnTo>
                  <a:pt x="2537618" y="0"/>
                </a:lnTo>
                <a:lnTo>
                  <a:pt x="2537618" y="876632"/>
                </a:lnTo>
                <a:lnTo>
                  <a:pt x="0" y="876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549406">
            <a:off x="-1392193" y="-2724063"/>
            <a:ext cx="2590371" cy="13348015"/>
            <a:chOff x="0" y="0"/>
            <a:chExt cx="682238" cy="35155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2238" cy="3515527"/>
            </a:xfrm>
            <a:custGeom>
              <a:avLst/>
              <a:gdLst/>
              <a:ahLst/>
              <a:cxnLst/>
              <a:rect r="r" b="b" t="t" l="l"/>
              <a:pathLst>
                <a:path h="3515527" w="682238">
                  <a:moveTo>
                    <a:pt x="0" y="0"/>
                  </a:moveTo>
                  <a:lnTo>
                    <a:pt x="682238" y="0"/>
                  </a:lnTo>
                  <a:lnTo>
                    <a:pt x="682238" y="3515527"/>
                  </a:lnTo>
                  <a:lnTo>
                    <a:pt x="0" y="3515527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682238" cy="3601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9406">
            <a:off x="17805173" y="3619070"/>
            <a:ext cx="1789592" cy="7003752"/>
            <a:chOff x="0" y="0"/>
            <a:chExt cx="471333" cy="18446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1333" cy="1844610"/>
            </a:xfrm>
            <a:custGeom>
              <a:avLst/>
              <a:gdLst/>
              <a:ahLst/>
              <a:cxnLst/>
              <a:rect r="r" b="b" t="t" l="l"/>
              <a:pathLst>
                <a:path h="1844610" w="471333">
                  <a:moveTo>
                    <a:pt x="0" y="0"/>
                  </a:moveTo>
                  <a:lnTo>
                    <a:pt x="471333" y="0"/>
                  </a:lnTo>
                  <a:lnTo>
                    <a:pt x="471333" y="1844610"/>
                  </a:lnTo>
                  <a:lnTo>
                    <a:pt x="0" y="1844610"/>
                  </a:lnTo>
                  <a:close/>
                </a:path>
              </a:pathLst>
            </a:custGeom>
            <a:solidFill>
              <a:srgbClr val="112041">
                <a:alpha val="76863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471333" cy="1930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595791" y="492019"/>
            <a:ext cx="2174549" cy="751208"/>
          </a:xfrm>
          <a:custGeom>
            <a:avLst/>
            <a:gdLst/>
            <a:ahLst/>
            <a:cxnLst/>
            <a:rect r="r" b="b" t="t" l="l"/>
            <a:pathLst>
              <a:path h="751208" w="2174549">
                <a:moveTo>
                  <a:pt x="0" y="0"/>
                </a:moveTo>
                <a:lnTo>
                  <a:pt x="2174549" y="0"/>
                </a:lnTo>
                <a:lnTo>
                  <a:pt x="2174549" y="751208"/>
                </a:lnTo>
                <a:lnTo>
                  <a:pt x="0" y="7512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331580" y="5404272"/>
            <a:ext cx="804589" cy="804589"/>
          </a:xfrm>
          <a:custGeom>
            <a:avLst/>
            <a:gdLst/>
            <a:ahLst/>
            <a:cxnLst/>
            <a:rect r="r" b="b" t="t" l="l"/>
            <a:pathLst>
              <a:path h="804589" w="804589">
                <a:moveTo>
                  <a:pt x="0" y="0"/>
                </a:moveTo>
                <a:lnTo>
                  <a:pt x="804589" y="0"/>
                </a:lnTo>
                <a:lnTo>
                  <a:pt x="804589" y="804588"/>
                </a:lnTo>
                <a:lnTo>
                  <a:pt x="0" y="8045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753700" y="4098424"/>
            <a:ext cx="13067930" cy="170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99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YOU!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5400000">
            <a:off x="6659356" y="-254044"/>
            <a:ext cx="447626" cy="765214"/>
          </a:xfrm>
          <a:custGeom>
            <a:avLst/>
            <a:gdLst/>
            <a:ahLst/>
            <a:cxnLst/>
            <a:rect r="r" b="b" t="t" l="l"/>
            <a:pathLst>
              <a:path h="765214" w="447626">
                <a:moveTo>
                  <a:pt x="0" y="0"/>
                </a:moveTo>
                <a:lnTo>
                  <a:pt x="447626" y="0"/>
                </a:lnTo>
                <a:lnTo>
                  <a:pt x="447626" y="765214"/>
                </a:lnTo>
                <a:lnTo>
                  <a:pt x="0" y="7652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4452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9155950" y="9837718"/>
            <a:ext cx="447626" cy="765214"/>
          </a:xfrm>
          <a:custGeom>
            <a:avLst/>
            <a:gdLst/>
            <a:ahLst/>
            <a:cxnLst/>
            <a:rect r="r" b="b" t="t" l="l"/>
            <a:pathLst>
              <a:path h="765214" w="447626">
                <a:moveTo>
                  <a:pt x="0" y="0"/>
                </a:moveTo>
                <a:lnTo>
                  <a:pt x="447625" y="0"/>
                </a:lnTo>
                <a:lnTo>
                  <a:pt x="447625" y="765214"/>
                </a:lnTo>
                <a:lnTo>
                  <a:pt x="0" y="7652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4452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DAHW1KRLv7I</dc:identifier>
  <dcterms:modified xsi:type="dcterms:W3CDTF">2011-08-01T06:04:30Z</dcterms:modified>
  <cp:revision>1</cp:revision>
  <dc:title>P</dc:title>
</cp:coreProperties>
</file>