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grandir Bold" panose="020B0604020202020204" charset="0"/>
      <p:regular r:id="rId8"/>
    </p:embeddedFont>
    <p:embeddedFont>
      <p:font typeface="Poppins" panose="00000500000000000000" pitchFamily="2" charset="0"/>
      <p:regular r:id="rId9"/>
    </p:embeddedFont>
    <p:embeddedFont>
      <p:font typeface="Poppins Bold" panose="00000800000000000000" charset="0"/>
      <p:regular r:id="rId10"/>
    </p:embeddedFont>
    <p:embeddedFont>
      <p:font typeface="Poppins Semi-Bold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3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1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1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1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042386">
            <a:off x="-965435" y="2869367"/>
            <a:ext cx="10917604" cy="5545209"/>
          </a:xfrm>
          <a:custGeom>
            <a:avLst/>
            <a:gdLst/>
            <a:ahLst/>
            <a:cxnLst/>
            <a:rect l="l" t="t" r="r" b="b"/>
            <a:pathLst>
              <a:path w="10917604" h="5545209">
                <a:moveTo>
                  <a:pt x="0" y="0"/>
                </a:moveTo>
                <a:lnTo>
                  <a:pt x="10917604" y="0"/>
                </a:lnTo>
                <a:lnTo>
                  <a:pt x="10917604" y="5545209"/>
                </a:lnTo>
                <a:lnTo>
                  <a:pt x="0" y="55452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 t="-2912" b="-291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8820366" y="1196975"/>
            <a:ext cx="3421312" cy="696703"/>
          </a:xfrm>
          <a:custGeom>
            <a:avLst/>
            <a:gdLst/>
            <a:ahLst/>
            <a:cxnLst/>
            <a:rect l="l" t="t" r="r" b="b"/>
            <a:pathLst>
              <a:path w="3421312" h="696703">
                <a:moveTo>
                  <a:pt x="0" y="0"/>
                </a:moveTo>
                <a:lnTo>
                  <a:pt x="3421312" y="0"/>
                </a:lnTo>
                <a:lnTo>
                  <a:pt x="3421312" y="696704"/>
                </a:lnTo>
                <a:lnTo>
                  <a:pt x="0" y="6967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 rot="525771">
            <a:off x="14575428" y="-403192"/>
            <a:ext cx="7290496" cy="11702538"/>
            <a:chOff x="0" y="0"/>
            <a:chExt cx="1920131" cy="30821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20131" cy="3082150"/>
            </a:xfrm>
            <a:custGeom>
              <a:avLst/>
              <a:gdLst/>
              <a:ahLst/>
              <a:cxnLst/>
              <a:rect l="l" t="t" r="r" b="b"/>
              <a:pathLst>
                <a:path w="1920131" h="3082150">
                  <a:moveTo>
                    <a:pt x="0" y="0"/>
                  </a:moveTo>
                  <a:lnTo>
                    <a:pt x="1920131" y="0"/>
                  </a:lnTo>
                  <a:lnTo>
                    <a:pt x="1920131" y="3082150"/>
                  </a:lnTo>
                  <a:lnTo>
                    <a:pt x="0" y="3082150"/>
                  </a:lnTo>
                  <a:close/>
                </a:path>
              </a:pathLst>
            </a:custGeom>
            <a:solidFill>
              <a:srgbClr val="1120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85725"/>
              <a:ext cx="1920131" cy="3167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903041" y="649144"/>
            <a:ext cx="4761128" cy="2884085"/>
            <a:chOff x="0" y="0"/>
            <a:chExt cx="1230376" cy="74530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30376" cy="745309"/>
            </a:xfrm>
            <a:custGeom>
              <a:avLst/>
              <a:gdLst/>
              <a:ahLst/>
              <a:cxnLst/>
              <a:rect l="l" t="t" r="r" b="b"/>
              <a:pathLst>
                <a:path w="1230376" h="745309">
                  <a:moveTo>
                    <a:pt x="65043" y="0"/>
                  </a:moveTo>
                  <a:lnTo>
                    <a:pt x="1165334" y="0"/>
                  </a:lnTo>
                  <a:cubicBezTo>
                    <a:pt x="1182584" y="0"/>
                    <a:pt x="1199128" y="6853"/>
                    <a:pt x="1211326" y="19051"/>
                  </a:cubicBezTo>
                  <a:cubicBezTo>
                    <a:pt x="1223524" y="31248"/>
                    <a:pt x="1230376" y="47792"/>
                    <a:pt x="1230376" y="65043"/>
                  </a:cubicBezTo>
                  <a:lnTo>
                    <a:pt x="1230376" y="680266"/>
                  </a:lnTo>
                  <a:cubicBezTo>
                    <a:pt x="1230376" y="716188"/>
                    <a:pt x="1201256" y="745309"/>
                    <a:pt x="1165334" y="745309"/>
                  </a:cubicBezTo>
                  <a:lnTo>
                    <a:pt x="65043" y="745309"/>
                  </a:lnTo>
                  <a:cubicBezTo>
                    <a:pt x="47792" y="745309"/>
                    <a:pt x="31248" y="738456"/>
                    <a:pt x="19051" y="726258"/>
                  </a:cubicBezTo>
                  <a:cubicBezTo>
                    <a:pt x="6853" y="714060"/>
                    <a:pt x="0" y="697517"/>
                    <a:pt x="0" y="680266"/>
                  </a:cubicBezTo>
                  <a:lnTo>
                    <a:pt x="0" y="65043"/>
                  </a:lnTo>
                  <a:cubicBezTo>
                    <a:pt x="0" y="47792"/>
                    <a:pt x="6853" y="31248"/>
                    <a:pt x="19051" y="19051"/>
                  </a:cubicBezTo>
                  <a:cubicBezTo>
                    <a:pt x="31248" y="6853"/>
                    <a:pt x="47792" y="0"/>
                    <a:pt x="65043" y="0"/>
                  </a:cubicBezTo>
                  <a:close/>
                </a:path>
              </a:pathLst>
            </a:custGeom>
            <a:blipFill>
              <a:blip r:embed="rId4"/>
              <a:stretch>
                <a:fillRect t="-3755" b="-375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024542" y="6402930"/>
            <a:ext cx="5234758" cy="2107316"/>
            <a:chOff x="0" y="0"/>
            <a:chExt cx="1230376" cy="49530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30376" cy="495303"/>
            </a:xfrm>
            <a:custGeom>
              <a:avLst/>
              <a:gdLst/>
              <a:ahLst/>
              <a:cxnLst/>
              <a:rect l="l" t="t" r="r" b="b"/>
              <a:pathLst>
                <a:path w="1230376" h="495303">
                  <a:moveTo>
                    <a:pt x="59158" y="0"/>
                  </a:moveTo>
                  <a:lnTo>
                    <a:pt x="1171219" y="0"/>
                  </a:lnTo>
                  <a:cubicBezTo>
                    <a:pt x="1186908" y="0"/>
                    <a:pt x="1201955" y="6233"/>
                    <a:pt x="1213050" y="17327"/>
                  </a:cubicBezTo>
                  <a:cubicBezTo>
                    <a:pt x="1224144" y="28421"/>
                    <a:pt x="1230376" y="43468"/>
                    <a:pt x="1230376" y="59158"/>
                  </a:cubicBezTo>
                  <a:lnTo>
                    <a:pt x="1230376" y="436145"/>
                  </a:lnTo>
                  <a:cubicBezTo>
                    <a:pt x="1230376" y="451835"/>
                    <a:pt x="1224144" y="466882"/>
                    <a:pt x="1213050" y="477976"/>
                  </a:cubicBezTo>
                  <a:cubicBezTo>
                    <a:pt x="1201955" y="489070"/>
                    <a:pt x="1186908" y="495303"/>
                    <a:pt x="1171219" y="495303"/>
                  </a:cubicBezTo>
                  <a:lnTo>
                    <a:pt x="59158" y="495303"/>
                  </a:lnTo>
                  <a:cubicBezTo>
                    <a:pt x="43468" y="495303"/>
                    <a:pt x="28421" y="489070"/>
                    <a:pt x="17327" y="477976"/>
                  </a:cubicBezTo>
                  <a:cubicBezTo>
                    <a:pt x="6233" y="466882"/>
                    <a:pt x="0" y="451835"/>
                    <a:pt x="0" y="436145"/>
                  </a:cubicBezTo>
                  <a:lnTo>
                    <a:pt x="0" y="59158"/>
                  </a:lnTo>
                  <a:cubicBezTo>
                    <a:pt x="0" y="43468"/>
                    <a:pt x="6233" y="28421"/>
                    <a:pt x="17327" y="17327"/>
                  </a:cubicBezTo>
                  <a:cubicBezTo>
                    <a:pt x="28421" y="6233"/>
                    <a:pt x="43468" y="0"/>
                    <a:pt x="59158" y="0"/>
                  </a:cubicBezTo>
                  <a:close/>
                </a:path>
              </a:pathLst>
            </a:custGeom>
            <a:blipFill>
              <a:blip r:embed="rId5"/>
              <a:stretch>
                <a:fillRect t="-20641" b="-2064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52994" y="1545327"/>
            <a:ext cx="4576813" cy="545860"/>
            <a:chOff x="0" y="0"/>
            <a:chExt cx="1205416" cy="14376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05416" cy="143766"/>
            </a:xfrm>
            <a:custGeom>
              <a:avLst/>
              <a:gdLst/>
              <a:ahLst/>
              <a:cxnLst/>
              <a:rect l="l" t="t" r="r" b="b"/>
              <a:pathLst>
                <a:path w="1205416" h="143766">
                  <a:moveTo>
                    <a:pt x="71883" y="0"/>
                  </a:moveTo>
                  <a:lnTo>
                    <a:pt x="1133533" y="0"/>
                  </a:lnTo>
                  <a:cubicBezTo>
                    <a:pt x="1152597" y="0"/>
                    <a:pt x="1170881" y="7573"/>
                    <a:pt x="1184362" y="21054"/>
                  </a:cubicBezTo>
                  <a:cubicBezTo>
                    <a:pt x="1197842" y="34535"/>
                    <a:pt x="1205416" y="52818"/>
                    <a:pt x="1205416" y="71883"/>
                  </a:cubicBezTo>
                  <a:lnTo>
                    <a:pt x="1205416" y="71883"/>
                  </a:lnTo>
                  <a:cubicBezTo>
                    <a:pt x="1205416" y="90947"/>
                    <a:pt x="1197842" y="109231"/>
                    <a:pt x="1184362" y="122712"/>
                  </a:cubicBezTo>
                  <a:cubicBezTo>
                    <a:pt x="1170881" y="136192"/>
                    <a:pt x="1152597" y="143766"/>
                    <a:pt x="1133533" y="143766"/>
                  </a:cubicBezTo>
                  <a:lnTo>
                    <a:pt x="71883" y="143766"/>
                  </a:lnTo>
                  <a:cubicBezTo>
                    <a:pt x="52818" y="143766"/>
                    <a:pt x="34535" y="136192"/>
                    <a:pt x="21054" y="122712"/>
                  </a:cubicBezTo>
                  <a:cubicBezTo>
                    <a:pt x="7573" y="109231"/>
                    <a:pt x="0" y="90947"/>
                    <a:pt x="0" y="71883"/>
                  </a:cubicBezTo>
                  <a:lnTo>
                    <a:pt x="0" y="71883"/>
                  </a:lnTo>
                  <a:cubicBezTo>
                    <a:pt x="0" y="52818"/>
                    <a:pt x="7573" y="34535"/>
                    <a:pt x="21054" y="21054"/>
                  </a:cubicBezTo>
                  <a:cubicBezTo>
                    <a:pt x="34535" y="7573"/>
                    <a:pt x="52818" y="0"/>
                    <a:pt x="71883" y="0"/>
                  </a:cubicBezTo>
                  <a:close/>
                </a:path>
              </a:pathLst>
            </a:custGeom>
            <a:solidFill>
              <a:srgbClr val="1120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85725"/>
              <a:ext cx="1205416" cy="2294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-1187898" y="9079230"/>
            <a:ext cx="3820012" cy="777893"/>
          </a:xfrm>
          <a:custGeom>
            <a:avLst/>
            <a:gdLst/>
            <a:ahLst/>
            <a:cxnLst/>
            <a:rect l="l" t="t" r="r" b="b"/>
            <a:pathLst>
              <a:path w="3820012" h="777893">
                <a:moveTo>
                  <a:pt x="0" y="0"/>
                </a:moveTo>
                <a:lnTo>
                  <a:pt x="3820012" y="0"/>
                </a:lnTo>
                <a:lnTo>
                  <a:pt x="3820012" y="777893"/>
                </a:lnTo>
                <a:lnTo>
                  <a:pt x="0" y="7778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16769282" y="4893164"/>
            <a:ext cx="980036" cy="980036"/>
          </a:xfrm>
          <a:custGeom>
            <a:avLst/>
            <a:gdLst/>
            <a:ahLst/>
            <a:cxnLst/>
            <a:rect l="l" t="t" r="r" b="b"/>
            <a:pathLst>
              <a:path w="980036" h="980036">
                <a:moveTo>
                  <a:pt x="0" y="0"/>
                </a:moveTo>
                <a:lnTo>
                  <a:pt x="980036" y="0"/>
                </a:lnTo>
                <a:lnTo>
                  <a:pt x="980036" y="980036"/>
                </a:lnTo>
                <a:lnTo>
                  <a:pt x="0" y="9800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722108" y="8798866"/>
            <a:ext cx="560728" cy="560728"/>
          </a:xfrm>
          <a:custGeom>
            <a:avLst/>
            <a:gdLst/>
            <a:ahLst/>
            <a:cxnLst/>
            <a:rect l="l" t="t" r="r" b="b"/>
            <a:pathLst>
              <a:path w="560728" h="560728">
                <a:moveTo>
                  <a:pt x="0" y="0"/>
                </a:moveTo>
                <a:lnTo>
                  <a:pt x="560728" y="0"/>
                </a:lnTo>
                <a:lnTo>
                  <a:pt x="560728" y="560728"/>
                </a:lnTo>
                <a:lnTo>
                  <a:pt x="0" y="5607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1552994" y="2356869"/>
            <a:ext cx="16945145" cy="6153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38"/>
              </a:lnSpc>
            </a:pPr>
            <a:r>
              <a:rPr lang="en-US" sz="6812" b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AI-Based Intelligent ERP </a:t>
            </a:r>
          </a:p>
          <a:p>
            <a:pPr algn="l">
              <a:lnSpc>
                <a:spcPts val="9538"/>
              </a:lnSpc>
            </a:pPr>
            <a:r>
              <a:rPr lang="en-US" sz="6812" b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Decision Support System For </a:t>
            </a:r>
          </a:p>
          <a:p>
            <a:pPr algn="l">
              <a:lnSpc>
                <a:spcPts val="9538"/>
              </a:lnSpc>
            </a:pPr>
            <a:r>
              <a:rPr lang="en-US" sz="6812" b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Small and Medium Enterprises</a:t>
            </a:r>
          </a:p>
          <a:p>
            <a:pPr algn="l">
              <a:lnSpc>
                <a:spcPts val="9538"/>
              </a:lnSpc>
            </a:pPr>
            <a:r>
              <a:rPr lang="en-US" sz="6812" b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(SMEs)</a:t>
            </a:r>
          </a:p>
          <a:p>
            <a:pPr algn="l">
              <a:lnSpc>
                <a:spcPts val="9538"/>
              </a:lnSpc>
            </a:pPr>
            <a:endParaRPr lang="en-US" sz="6812" b="1">
              <a:solidFill>
                <a:srgbClr val="000000"/>
              </a:solidFill>
              <a:latin typeface="Agrandir Bold"/>
              <a:ea typeface="Agrandir Bold"/>
              <a:cs typeface="Agrandir Bold"/>
              <a:sym typeface="Agrandir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598889" y="8124484"/>
            <a:ext cx="2066449" cy="692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Group 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1831441">
            <a:off x="-581518" y="-2090783"/>
            <a:ext cx="2105414" cy="5934133"/>
            <a:chOff x="0" y="0"/>
            <a:chExt cx="554512" cy="15628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54512" cy="1562899"/>
            </a:xfrm>
            <a:custGeom>
              <a:avLst/>
              <a:gdLst/>
              <a:ahLst/>
              <a:cxnLst/>
              <a:rect l="l" t="t" r="r" b="b"/>
              <a:pathLst>
                <a:path w="554512" h="1562899">
                  <a:moveTo>
                    <a:pt x="0" y="0"/>
                  </a:moveTo>
                  <a:lnTo>
                    <a:pt x="554512" y="0"/>
                  </a:lnTo>
                  <a:lnTo>
                    <a:pt x="554512" y="1562899"/>
                  </a:lnTo>
                  <a:lnTo>
                    <a:pt x="0" y="1562899"/>
                  </a:lnTo>
                  <a:close/>
                </a:path>
              </a:pathLst>
            </a:custGeom>
            <a:solidFill>
              <a:srgbClr val="1120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554512" cy="16486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516435" y="2648954"/>
            <a:ext cx="5941722" cy="3713261"/>
            <a:chOff x="0" y="0"/>
            <a:chExt cx="1543938" cy="96487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43938" cy="964879"/>
            </a:xfrm>
            <a:custGeom>
              <a:avLst/>
              <a:gdLst/>
              <a:ahLst/>
              <a:cxnLst/>
              <a:rect l="l" t="t" r="r" b="b"/>
              <a:pathLst>
                <a:path w="1543938" h="964879">
                  <a:moveTo>
                    <a:pt x="78179" y="0"/>
                  </a:moveTo>
                  <a:lnTo>
                    <a:pt x="1465759" y="0"/>
                  </a:lnTo>
                  <a:cubicBezTo>
                    <a:pt x="1508936" y="0"/>
                    <a:pt x="1543938" y="35002"/>
                    <a:pt x="1543938" y="78179"/>
                  </a:cubicBezTo>
                  <a:lnTo>
                    <a:pt x="1543938" y="886701"/>
                  </a:lnTo>
                  <a:cubicBezTo>
                    <a:pt x="1543938" y="929878"/>
                    <a:pt x="1508936" y="964879"/>
                    <a:pt x="1465759" y="964879"/>
                  </a:cubicBezTo>
                  <a:lnTo>
                    <a:pt x="78179" y="964879"/>
                  </a:lnTo>
                  <a:cubicBezTo>
                    <a:pt x="35002" y="964879"/>
                    <a:pt x="0" y="929878"/>
                    <a:pt x="0" y="886701"/>
                  </a:cubicBezTo>
                  <a:lnTo>
                    <a:pt x="0" y="78179"/>
                  </a:lnTo>
                  <a:cubicBezTo>
                    <a:pt x="0" y="35002"/>
                    <a:pt x="35002" y="0"/>
                    <a:pt x="78179" y="0"/>
                  </a:cubicBezTo>
                  <a:close/>
                </a:path>
              </a:pathLst>
            </a:custGeom>
            <a:blipFill>
              <a:blip r:embed="rId2"/>
              <a:stretch>
                <a:fillRect t="-3304" b="-330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 rot="6818877">
            <a:off x="16072148" y="8911697"/>
            <a:ext cx="2105414" cy="3191038"/>
            <a:chOff x="0" y="0"/>
            <a:chExt cx="554512" cy="84043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54512" cy="840438"/>
            </a:xfrm>
            <a:custGeom>
              <a:avLst/>
              <a:gdLst/>
              <a:ahLst/>
              <a:cxnLst/>
              <a:rect l="l" t="t" r="r" b="b"/>
              <a:pathLst>
                <a:path w="554512" h="840438">
                  <a:moveTo>
                    <a:pt x="0" y="0"/>
                  </a:moveTo>
                  <a:lnTo>
                    <a:pt x="554512" y="0"/>
                  </a:lnTo>
                  <a:lnTo>
                    <a:pt x="554512" y="840438"/>
                  </a:lnTo>
                  <a:lnTo>
                    <a:pt x="0" y="840438"/>
                  </a:lnTo>
                  <a:close/>
                </a:path>
              </a:pathLst>
            </a:custGeom>
            <a:solidFill>
              <a:srgbClr val="1120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85725"/>
              <a:ext cx="554512" cy="92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1192550" y="4524977"/>
            <a:ext cx="647771" cy="960939"/>
          </a:xfrm>
          <a:custGeom>
            <a:avLst/>
            <a:gdLst/>
            <a:ahLst/>
            <a:cxnLst/>
            <a:rect l="l" t="t" r="r" b="b"/>
            <a:pathLst>
              <a:path w="647771" h="960939">
                <a:moveTo>
                  <a:pt x="0" y="0"/>
                </a:moveTo>
                <a:lnTo>
                  <a:pt x="647770" y="0"/>
                </a:lnTo>
                <a:lnTo>
                  <a:pt x="647770" y="960939"/>
                </a:lnTo>
                <a:lnTo>
                  <a:pt x="0" y="9609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4181004" y="1028700"/>
            <a:ext cx="5539447" cy="3736609"/>
          </a:xfrm>
          <a:custGeom>
            <a:avLst/>
            <a:gdLst/>
            <a:ahLst/>
            <a:cxnLst/>
            <a:rect l="l" t="t" r="r" b="b"/>
            <a:pathLst>
              <a:path w="5539447" h="3736609">
                <a:moveTo>
                  <a:pt x="0" y="0"/>
                </a:moveTo>
                <a:lnTo>
                  <a:pt x="5539447" y="0"/>
                </a:lnTo>
                <a:lnTo>
                  <a:pt x="5539447" y="3736609"/>
                </a:lnTo>
                <a:lnTo>
                  <a:pt x="0" y="37366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-751924" y="8330904"/>
            <a:ext cx="2749693" cy="1854793"/>
          </a:xfrm>
          <a:custGeom>
            <a:avLst/>
            <a:gdLst/>
            <a:ahLst/>
            <a:cxnLst/>
            <a:rect l="l" t="t" r="r" b="b"/>
            <a:pathLst>
              <a:path w="2749693" h="1854793">
                <a:moveTo>
                  <a:pt x="0" y="0"/>
                </a:moveTo>
                <a:lnTo>
                  <a:pt x="2749693" y="0"/>
                </a:lnTo>
                <a:lnTo>
                  <a:pt x="2749693" y="1854792"/>
                </a:lnTo>
                <a:lnTo>
                  <a:pt x="0" y="18547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 rot="-5400000">
            <a:off x="1773956" y="213943"/>
            <a:ext cx="447626" cy="1181889"/>
          </a:xfrm>
          <a:custGeom>
            <a:avLst/>
            <a:gdLst/>
            <a:ahLst/>
            <a:cxnLst/>
            <a:rect l="l" t="t" r="r" b="b"/>
            <a:pathLst>
              <a:path w="447626" h="1181889">
                <a:moveTo>
                  <a:pt x="0" y="0"/>
                </a:moveTo>
                <a:lnTo>
                  <a:pt x="447626" y="0"/>
                </a:lnTo>
                <a:lnTo>
                  <a:pt x="447626" y="1181889"/>
                </a:lnTo>
                <a:lnTo>
                  <a:pt x="0" y="11818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3392272" y="457249"/>
            <a:ext cx="8993621" cy="118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99"/>
              </a:lnSpc>
              <a:spcBef>
                <a:spcPct val="0"/>
              </a:spcBef>
            </a:pPr>
            <a:r>
              <a:rPr lang="en-US" sz="6999" b="1" u="none" strike="noStrike">
                <a:solidFill>
                  <a:srgbClr val="0B0A0A"/>
                </a:solidFill>
                <a:latin typeface="Agrandir Bold"/>
                <a:ea typeface="Agrandir Bold"/>
                <a:cs typeface="Agrandir Bold"/>
                <a:sym typeface="Agrandir Bold"/>
              </a:rPr>
              <a:t> Introduction</a:t>
            </a:r>
          </a:p>
        </p:txBody>
      </p:sp>
      <p:sp>
        <p:nvSpPr>
          <p:cNvPr id="15" name="Freeform 15"/>
          <p:cNvSpPr/>
          <p:nvPr/>
        </p:nvSpPr>
        <p:spPr>
          <a:xfrm rot="-5400000">
            <a:off x="15407339" y="8891168"/>
            <a:ext cx="447626" cy="1181889"/>
          </a:xfrm>
          <a:custGeom>
            <a:avLst/>
            <a:gdLst/>
            <a:ahLst/>
            <a:cxnLst/>
            <a:rect l="l" t="t" r="r" b="b"/>
            <a:pathLst>
              <a:path w="447626" h="1181889">
                <a:moveTo>
                  <a:pt x="0" y="0"/>
                </a:moveTo>
                <a:lnTo>
                  <a:pt x="447626" y="0"/>
                </a:lnTo>
                <a:lnTo>
                  <a:pt x="447626" y="1181889"/>
                </a:lnTo>
                <a:lnTo>
                  <a:pt x="0" y="11818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1406824" y="1975472"/>
            <a:ext cx="9527811" cy="4615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1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Overview</a:t>
            </a:r>
          </a:p>
          <a:p>
            <a:pPr algn="l">
              <a:lnSpc>
                <a:spcPts val="3359"/>
              </a:lnSpc>
            </a:pPr>
            <a:endParaRPr lang="en-US" sz="2399" b="1">
              <a:solidFill>
                <a:srgbClr val="0B0A0A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518158" lvl="1" indent="-259079" algn="l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AI-based ERP decision support system for Small and Medium Enterprises</a:t>
            </a:r>
          </a:p>
          <a:p>
            <a:pPr marL="518158" lvl="1" indent="-259079" algn="l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Focuses on inventory management</a:t>
            </a:r>
          </a:p>
          <a:p>
            <a:pPr marL="518158" lvl="1" indent="-259079" algn="l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Integrates ERP data with Artificial Intelligence</a:t>
            </a:r>
          </a:p>
          <a:p>
            <a:pPr marL="518158" lvl="1" indent="-259079" algn="l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Helps managers understand current and future inventory conditions</a:t>
            </a:r>
          </a:p>
          <a:p>
            <a:pPr marL="518158" lvl="1" indent="-259079" algn="l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Provides data-driven recommendations instead of only displaying data</a:t>
            </a:r>
          </a:p>
          <a:p>
            <a:pPr algn="l">
              <a:lnSpc>
                <a:spcPts val="3359"/>
              </a:lnSpc>
            </a:pPr>
            <a:endParaRPr lang="en-US" sz="2399">
              <a:solidFill>
                <a:srgbClr val="0B0A0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406824" y="6924663"/>
            <a:ext cx="8934107" cy="2101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1">
                <a:solidFill>
                  <a:srgbClr val="0B0A0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Three Main AI Components</a:t>
            </a:r>
          </a:p>
          <a:p>
            <a:pPr marL="518158" lvl="1" indent="-259079" algn="l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Machine Learning → Demand Forecasting</a:t>
            </a:r>
          </a:p>
          <a:p>
            <a:pPr marL="518158" lvl="1" indent="-259079" algn="l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Fuzzy Logic → Inventory Risk Assessment</a:t>
            </a:r>
          </a:p>
          <a:p>
            <a:pPr marL="518158" lvl="1" indent="-259079" algn="l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Rule-Based Reasoning → Reorder Recommendation</a:t>
            </a:r>
          </a:p>
          <a:p>
            <a:pPr algn="l">
              <a:lnSpc>
                <a:spcPts val="3359"/>
              </a:lnSpc>
            </a:pPr>
            <a:endParaRPr lang="en-US" sz="2399">
              <a:solidFill>
                <a:srgbClr val="0B0A0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057187" y="2713957"/>
            <a:ext cx="4658817" cy="2291055"/>
            <a:chOff x="0" y="0"/>
            <a:chExt cx="1004918" cy="4941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4918" cy="494186"/>
            </a:xfrm>
            <a:custGeom>
              <a:avLst/>
              <a:gdLst/>
              <a:ahLst/>
              <a:cxnLst/>
              <a:rect l="l" t="t" r="r" b="b"/>
              <a:pathLst>
                <a:path w="1004918" h="494186">
                  <a:moveTo>
                    <a:pt x="86412" y="0"/>
                  </a:moveTo>
                  <a:lnTo>
                    <a:pt x="918505" y="0"/>
                  </a:lnTo>
                  <a:cubicBezTo>
                    <a:pt x="941423" y="0"/>
                    <a:pt x="963403" y="9104"/>
                    <a:pt x="979608" y="25310"/>
                  </a:cubicBezTo>
                  <a:cubicBezTo>
                    <a:pt x="995814" y="41515"/>
                    <a:pt x="1004918" y="63494"/>
                    <a:pt x="1004918" y="86412"/>
                  </a:cubicBezTo>
                  <a:lnTo>
                    <a:pt x="1004918" y="407774"/>
                  </a:lnTo>
                  <a:cubicBezTo>
                    <a:pt x="1004918" y="430692"/>
                    <a:pt x="995814" y="452671"/>
                    <a:pt x="979608" y="468876"/>
                  </a:cubicBezTo>
                  <a:cubicBezTo>
                    <a:pt x="963403" y="485082"/>
                    <a:pt x="941423" y="494186"/>
                    <a:pt x="918505" y="494186"/>
                  </a:cubicBezTo>
                  <a:lnTo>
                    <a:pt x="86412" y="494186"/>
                  </a:lnTo>
                  <a:cubicBezTo>
                    <a:pt x="63494" y="494186"/>
                    <a:pt x="41515" y="485082"/>
                    <a:pt x="25310" y="468876"/>
                  </a:cubicBezTo>
                  <a:cubicBezTo>
                    <a:pt x="9104" y="452671"/>
                    <a:pt x="0" y="430692"/>
                    <a:pt x="0" y="407774"/>
                  </a:cubicBezTo>
                  <a:lnTo>
                    <a:pt x="0" y="86412"/>
                  </a:lnTo>
                  <a:cubicBezTo>
                    <a:pt x="0" y="63494"/>
                    <a:pt x="9104" y="41515"/>
                    <a:pt x="25310" y="25310"/>
                  </a:cubicBezTo>
                  <a:cubicBezTo>
                    <a:pt x="41515" y="9104"/>
                    <a:pt x="63494" y="0"/>
                    <a:pt x="86412" y="0"/>
                  </a:cubicBezTo>
                  <a:close/>
                </a:path>
              </a:pathLst>
            </a:custGeom>
            <a:blipFill>
              <a:blip r:embed="rId2"/>
              <a:stretch>
                <a:fillRect t="-7827" b="-782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16798895" y="8317666"/>
            <a:ext cx="3820012" cy="777893"/>
          </a:xfrm>
          <a:custGeom>
            <a:avLst/>
            <a:gdLst/>
            <a:ahLst/>
            <a:cxnLst/>
            <a:rect l="l" t="t" r="r" b="b"/>
            <a:pathLst>
              <a:path w="3820012" h="777893">
                <a:moveTo>
                  <a:pt x="0" y="0"/>
                </a:moveTo>
                <a:lnTo>
                  <a:pt x="3820012" y="0"/>
                </a:lnTo>
                <a:lnTo>
                  <a:pt x="3820012" y="777893"/>
                </a:lnTo>
                <a:lnTo>
                  <a:pt x="0" y="7778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11276671" y="5454046"/>
            <a:ext cx="5522223" cy="2715650"/>
            <a:chOff x="0" y="0"/>
            <a:chExt cx="1004918" cy="49418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04918" cy="494186"/>
            </a:xfrm>
            <a:custGeom>
              <a:avLst/>
              <a:gdLst/>
              <a:ahLst/>
              <a:cxnLst/>
              <a:rect l="l" t="t" r="r" b="b"/>
              <a:pathLst>
                <a:path w="1004918" h="494186">
                  <a:moveTo>
                    <a:pt x="72902" y="0"/>
                  </a:moveTo>
                  <a:lnTo>
                    <a:pt x="932016" y="0"/>
                  </a:lnTo>
                  <a:cubicBezTo>
                    <a:pt x="972279" y="0"/>
                    <a:pt x="1004918" y="32639"/>
                    <a:pt x="1004918" y="72902"/>
                  </a:cubicBezTo>
                  <a:lnTo>
                    <a:pt x="1004918" y="421284"/>
                  </a:lnTo>
                  <a:cubicBezTo>
                    <a:pt x="1004918" y="461547"/>
                    <a:pt x="972279" y="494186"/>
                    <a:pt x="932016" y="494186"/>
                  </a:cubicBezTo>
                  <a:lnTo>
                    <a:pt x="72902" y="494186"/>
                  </a:lnTo>
                  <a:cubicBezTo>
                    <a:pt x="32639" y="494186"/>
                    <a:pt x="0" y="461547"/>
                    <a:pt x="0" y="421284"/>
                  </a:cubicBezTo>
                  <a:lnTo>
                    <a:pt x="0" y="72902"/>
                  </a:lnTo>
                  <a:cubicBezTo>
                    <a:pt x="0" y="32639"/>
                    <a:pt x="32639" y="0"/>
                    <a:pt x="72902" y="0"/>
                  </a:cubicBezTo>
                  <a:close/>
                </a:path>
              </a:pathLst>
            </a:custGeom>
            <a:blipFill>
              <a:blip r:embed="rId4"/>
              <a:stretch>
                <a:fillRect t="-7191" b="-719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 rot="328555">
            <a:off x="-6403549" y="-1128941"/>
            <a:ext cx="7793514" cy="12544882"/>
            <a:chOff x="0" y="0"/>
            <a:chExt cx="2052613" cy="330400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052613" cy="3304002"/>
            </a:xfrm>
            <a:custGeom>
              <a:avLst/>
              <a:gdLst/>
              <a:ahLst/>
              <a:cxnLst/>
              <a:rect l="l" t="t" r="r" b="b"/>
              <a:pathLst>
                <a:path w="2052613" h="3304002">
                  <a:moveTo>
                    <a:pt x="0" y="0"/>
                  </a:moveTo>
                  <a:lnTo>
                    <a:pt x="2052613" y="0"/>
                  </a:lnTo>
                  <a:lnTo>
                    <a:pt x="2052613" y="3304002"/>
                  </a:lnTo>
                  <a:lnTo>
                    <a:pt x="0" y="3304002"/>
                  </a:lnTo>
                  <a:close/>
                </a:path>
              </a:pathLst>
            </a:custGeom>
            <a:solidFill>
              <a:srgbClr val="112041">
                <a:alpha val="76863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85725"/>
              <a:ext cx="2052613" cy="33897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5747545" y="7627173"/>
            <a:ext cx="2968459" cy="2158879"/>
          </a:xfrm>
          <a:custGeom>
            <a:avLst/>
            <a:gdLst/>
            <a:ahLst/>
            <a:cxnLst/>
            <a:rect l="l" t="t" r="r" b="b"/>
            <a:pathLst>
              <a:path w="2968459" h="2158879">
                <a:moveTo>
                  <a:pt x="0" y="0"/>
                </a:moveTo>
                <a:lnTo>
                  <a:pt x="2968459" y="0"/>
                </a:lnTo>
                <a:lnTo>
                  <a:pt x="2968459" y="2158879"/>
                </a:lnTo>
                <a:lnTo>
                  <a:pt x="0" y="21588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7231775" y="1333830"/>
            <a:ext cx="953399" cy="959097"/>
          </a:xfrm>
          <a:custGeom>
            <a:avLst/>
            <a:gdLst/>
            <a:ahLst/>
            <a:cxnLst/>
            <a:rect l="l" t="t" r="r" b="b"/>
            <a:pathLst>
              <a:path w="953399" h="959097">
                <a:moveTo>
                  <a:pt x="0" y="0"/>
                </a:moveTo>
                <a:lnTo>
                  <a:pt x="953399" y="0"/>
                </a:lnTo>
                <a:lnTo>
                  <a:pt x="953399" y="959097"/>
                </a:lnTo>
                <a:lnTo>
                  <a:pt x="0" y="9590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4037783" y="1397143"/>
            <a:ext cx="2914981" cy="552402"/>
          </a:xfrm>
          <a:custGeom>
            <a:avLst/>
            <a:gdLst/>
            <a:ahLst/>
            <a:cxnLst/>
            <a:rect l="l" t="t" r="r" b="b"/>
            <a:pathLst>
              <a:path w="2914981" h="552402">
                <a:moveTo>
                  <a:pt x="0" y="0"/>
                </a:moveTo>
                <a:lnTo>
                  <a:pt x="2914981" y="0"/>
                </a:lnTo>
                <a:lnTo>
                  <a:pt x="2914981" y="552402"/>
                </a:lnTo>
                <a:lnTo>
                  <a:pt x="0" y="5524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970745" y="2035175"/>
            <a:ext cx="13518472" cy="6799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19"/>
              </a:lnSpc>
            </a:pPr>
            <a:r>
              <a:rPr lang="en-US" sz="2299" b="1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Limitations of Traditional ERP</a:t>
            </a:r>
          </a:p>
          <a:p>
            <a:pPr marL="0" lvl="0" indent="0" algn="l">
              <a:lnSpc>
                <a:spcPts val="3219"/>
              </a:lnSpc>
            </a:pPr>
            <a:endParaRPr lang="en-US" sz="2299" b="1">
              <a:solidFill>
                <a:srgbClr val="0B0A0A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0" lvl="0" indent="0" algn="l">
              <a:lnSpc>
                <a:spcPts val="3219"/>
              </a:lnSpc>
            </a:pPr>
            <a:r>
              <a:rPr lang="en-US" sz="22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Traditional ERP systems can:</a:t>
            </a:r>
          </a:p>
          <a:p>
            <a:pPr marL="496569" lvl="1" indent="-248284" algn="l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Store product and inventory information</a:t>
            </a:r>
          </a:p>
          <a:p>
            <a:pPr marL="496569" lvl="1" indent="-248284" algn="l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Record sales transactions</a:t>
            </a:r>
          </a:p>
          <a:p>
            <a:pPr marL="496569" lvl="1" indent="-248284" algn="l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Display current stock levels</a:t>
            </a:r>
          </a:p>
          <a:p>
            <a:pPr marL="496569" lvl="1" indent="-248284" algn="l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Manage supplier information</a:t>
            </a:r>
          </a:p>
          <a:p>
            <a:pPr marL="496569" lvl="1" indent="-248284" algn="l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Provide basic inventory information</a:t>
            </a:r>
          </a:p>
          <a:p>
            <a:pPr algn="l">
              <a:lnSpc>
                <a:spcPts val="3219"/>
              </a:lnSpc>
            </a:pPr>
            <a:endParaRPr lang="en-US" sz="2299">
              <a:solidFill>
                <a:srgbClr val="0B0A0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>
              <a:lnSpc>
                <a:spcPts val="3219"/>
              </a:lnSpc>
            </a:pPr>
            <a:r>
              <a:rPr lang="en-US" sz="22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However, they may not provide enough intelligent support for:</a:t>
            </a:r>
          </a:p>
          <a:p>
            <a:pPr marL="496569" lvl="1" indent="-248284" algn="l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Future demand prediction</a:t>
            </a:r>
          </a:p>
          <a:p>
            <a:pPr marL="496569" lvl="1" indent="-248284" algn="l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Inventory risk assessment</a:t>
            </a:r>
          </a:p>
          <a:p>
            <a:pPr marL="496569" lvl="1" indent="-248284" algn="l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Supplier lead-time consideration</a:t>
            </a:r>
          </a:p>
          <a:p>
            <a:pPr marL="496569" lvl="1" indent="-248284" algn="l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Recommended reorder quantities</a:t>
            </a:r>
          </a:p>
          <a:p>
            <a:pPr marL="496569" lvl="1" indent="-248284" algn="l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Data-driven inventory decisions of stock shortages</a:t>
            </a:r>
          </a:p>
          <a:p>
            <a:pPr marL="0" lvl="0" indent="0" algn="l">
              <a:lnSpc>
                <a:spcPts val="3219"/>
              </a:lnSpc>
            </a:pPr>
            <a:endParaRPr lang="en-US" sz="2299">
              <a:solidFill>
                <a:srgbClr val="0B0A0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219"/>
              </a:lnSpc>
            </a:pPr>
            <a:endParaRPr lang="en-US" sz="2299">
              <a:solidFill>
                <a:srgbClr val="0B0A0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4915829" y="744868"/>
            <a:ext cx="6360843" cy="112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b="1">
                <a:solidFill>
                  <a:srgbClr val="0B0A0A"/>
                </a:solidFill>
                <a:latin typeface="Agrandir Bold"/>
                <a:ea typeface="Agrandir Bold"/>
                <a:cs typeface="Agrandir Bold"/>
                <a:sym typeface="Agrandir Bold"/>
              </a:rPr>
              <a:t>Problem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960473" y="6424921"/>
            <a:ext cx="5327527" cy="2119202"/>
            <a:chOff x="0" y="0"/>
            <a:chExt cx="1038683" cy="4131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38683" cy="413171"/>
            </a:xfrm>
            <a:custGeom>
              <a:avLst/>
              <a:gdLst/>
              <a:ahLst/>
              <a:cxnLst/>
              <a:rect l="l" t="t" r="r" b="b"/>
              <a:pathLst>
                <a:path w="1038683" h="413171">
                  <a:moveTo>
                    <a:pt x="72660" y="0"/>
                  </a:moveTo>
                  <a:lnTo>
                    <a:pt x="966023" y="0"/>
                  </a:lnTo>
                  <a:cubicBezTo>
                    <a:pt x="1006152" y="0"/>
                    <a:pt x="1038683" y="32531"/>
                    <a:pt x="1038683" y="72660"/>
                  </a:cubicBezTo>
                  <a:lnTo>
                    <a:pt x="1038683" y="340511"/>
                  </a:lnTo>
                  <a:cubicBezTo>
                    <a:pt x="1038683" y="380640"/>
                    <a:pt x="1006152" y="413171"/>
                    <a:pt x="966023" y="413171"/>
                  </a:cubicBezTo>
                  <a:lnTo>
                    <a:pt x="72660" y="413171"/>
                  </a:lnTo>
                  <a:cubicBezTo>
                    <a:pt x="32531" y="413171"/>
                    <a:pt x="0" y="380640"/>
                    <a:pt x="0" y="340511"/>
                  </a:cubicBezTo>
                  <a:lnTo>
                    <a:pt x="0" y="72660"/>
                  </a:lnTo>
                  <a:cubicBezTo>
                    <a:pt x="0" y="32531"/>
                    <a:pt x="32531" y="0"/>
                    <a:pt x="72660" y="0"/>
                  </a:cubicBezTo>
                  <a:close/>
                </a:path>
              </a:pathLst>
            </a:custGeom>
            <a:blipFill>
              <a:blip r:embed="rId2"/>
              <a:stretch>
                <a:fillRect t="-20957" b="-4653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595791" y="8346053"/>
            <a:ext cx="473931" cy="473931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B0A0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7" name="AutoShape 7"/>
          <p:cNvSpPr/>
          <p:nvPr/>
        </p:nvSpPr>
        <p:spPr>
          <a:xfrm flipV="1">
            <a:off x="2017117" y="3563002"/>
            <a:ext cx="0" cy="1583570"/>
          </a:xfrm>
          <a:prstGeom prst="line">
            <a:avLst/>
          </a:prstGeom>
          <a:ln w="19050" cap="rnd">
            <a:solidFill>
              <a:srgbClr val="CDD4D8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flipV="1">
            <a:off x="2017117" y="5128966"/>
            <a:ext cx="0" cy="1488742"/>
          </a:xfrm>
          <a:prstGeom prst="line">
            <a:avLst/>
          </a:prstGeom>
          <a:ln w="19050" cap="rnd">
            <a:solidFill>
              <a:srgbClr val="CDD4D8"/>
            </a:solidFill>
            <a:prstDash val="solid"/>
            <a:headEnd type="oval" w="lg" len="lg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 flipH="1" flipV="1">
            <a:off x="2017117" y="6582409"/>
            <a:ext cx="0" cy="1565650"/>
          </a:xfrm>
          <a:prstGeom prst="line">
            <a:avLst/>
          </a:prstGeom>
          <a:ln w="19050" cap="rnd">
            <a:solidFill>
              <a:srgbClr val="CDD4D8"/>
            </a:solidFill>
            <a:prstDash val="solid"/>
            <a:headEnd type="oval" w="lg" len="lg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-520501" y="8819984"/>
            <a:ext cx="2537618" cy="876632"/>
          </a:xfrm>
          <a:custGeom>
            <a:avLst/>
            <a:gdLst/>
            <a:ahLst/>
            <a:cxnLst/>
            <a:rect l="l" t="t" r="r" b="b"/>
            <a:pathLst>
              <a:path w="2537618" h="876632">
                <a:moveTo>
                  <a:pt x="0" y="0"/>
                </a:moveTo>
                <a:lnTo>
                  <a:pt x="2537618" y="0"/>
                </a:lnTo>
                <a:lnTo>
                  <a:pt x="2537618" y="876632"/>
                </a:lnTo>
                <a:lnTo>
                  <a:pt x="0" y="8766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 rot="549406">
            <a:off x="-1392193" y="-2724063"/>
            <a:ext cx="2590371" cy="13348015"/>
            <a:chOff x="0" y="0"/>
            <a:chExt cx="682238" cy="351552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82238" cy="3515527"/>
            </a:xfrm>
            <a:custGeom>
              <a:avLst/>
              <a:gdLst/>
              <a:ahLst/>
              <a:cxnLst/>
              <a:rect l="l" t="t" r="r" b="b"/>
              <a:pathLst>
                <a:path w="682238" h="3515527">
                  <a:moveTo>
                    <a:pt x="0" y="0"/>
                  </a:moveTo>
                  <a:lnTo>
                    <a:pt x="682238" y="0"/>
                  </a:lnTo>
                  <a:lnTo>
                    <a:pt x="682238" y="3515527"/>
                  </a:lnTo>
                  <a:lnTo>
                    <a:pt x="0" y="3515527"/>
                  </a:lnTo>
                  <a:close/>
                </a:path>
              </a:pathLst>
            </a:custGeom>
            <a:solidFill>
              <a:srgbClr val="112041">
                <a:alpha val="76863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85725"/>
              <a:ext cx="682238" cy="36012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 rot="549406">
            <a:off x="17805173" y="3619070"/>
            <a:ext cx="1789592" cy="7003752"/>
            <a:chOff x="0" y="0"/>
            <a:chExt cx="471333" cy="184461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71333" cy="1844610"/>
            </a:xfrm>
            <a:custGeom>
              <a:avLst/>
              <a:gdLst/>
              <a:ahLst/>
              <a:cxnLst/>
              <a:rect l="l" t="t" r="r" b="b"/>
              <a:pathLst>
                <a:path w="471333" h="1844610">
                  <a:moveTo>
                    <a:pt x="0" y="0"/>
                  </a:moveTo>
                  <a:lnTo>
                    <a:pt x="471333" y="0"/>
                  </a:lnTo>
                  <a:lnTo>
                    <a:pt x="471333" y="1844610"/>
                  </a:lnTo>
                  <a:lnTo>
                    <a:pt x="0" y="1844610"/>
                  </a:lnTo>
                  <a:close/>
                </a:path>
              </a:pathLst>
            </a:custGeom>
            <a:solidFill>
              <a:srgbClr val="112041">
                <a:alpha val="76863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85725"/>
              <a:ext cx="471333" cy="19303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6595791" y="492019"/>
            <a:ext cx="2174549" cy="751208"/>
          </a:xfrm>
          <a:custGeom>
            <a:avLst/>
            <a:gdLst/>
            <a:ahLst/>
            <a:cxnLst/>
            <a:rect l="l" t="t" r="r" b="b"/>
            <a:pathLst>
              <a:path w="2174549" h="751208">
                <a:moveTo>
                  <a:pt x="0" y="0"/>
                </a:moveTo>
                <a:lnTo>
                  <a:pt x="2174549" y="0"/>
                </a:lnTo>
                <a:lnTo>
                  <a:pt x="2174549" y="751208"/>
                </a:lnTo>
                <a:lnTo>
                  <a:pt x="0" y="7512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6331580" y="5404272"/>
            <a:ext cx="804589" cy="804589"/>
          </a:xfrm>
          <a:custGeom>
            <a:avLst/>
            <a:gdLst/>
            <a:ahLst/>
            <a:cxnLst/>
            <a:rect l="l" t="t" r="r" b="b"/>
            <a:pathLst>
              <a:path w="804589" h="804589">
                <a:moveTo>
                  <a:pt x="0" y="0"/>
                </a:moveTo>
                <a:lnTo>
                  <a:pt x="804589" y="0"/>
                </a:lnTo>
                <a:lnTo>
                  <a:pt x="804589" y="804588"/>
                </a:lnTo>
                <a:lnTo>
                  <a:pt x="0" y="8045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2467489" y="1968626"/>
            <a:ext cx="8831359" cy="7644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0B0A0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AI-Based Solution</a:t>
            </a:r>
          </a:p>
          <a:p>
            <a:pPr algn="l">
              <a:lnSpc>
                <a:spcPts val="3219"/>
              </a:lnSpc>
            </a:pPr>
            <a:r>
              <a:rPr lang="en-US" sz="2299" b="1">
                <a:solidFill>
                  <a:srgbClr val="0B0A0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1. Demand Forecasting</a:t>
            </a:r>
          </a:p>
          <a:p>
            <a:pPr algn="l">
              <a:lnSpc>
                <a:spcPts val="3219"/>
              </a:lnSpc>
            </a:pPr>
            <a:r>
              <a:rPr lang="en-US" sz="2299" b="1">
                <a:solidFill>
                  <a:srgbClr val="0B0A0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                      </a:t>
            </a:r>
            <a:r>
              <a:rPr lang="en-US" sz="22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Machine Learning</a:t>
            </a:r>
          </a:p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                     Historical sales data</a:t>
            </a:r>
          </a:p>
          <a:p>
            <a:pPr algn="l">
              <a:lnSpc>
                <a:spcPts val="3219"/>
              </a:lnSpc>
            </a:pPr>
            <a:r>
              <a:rPr lang="en-US" sz="2299" b="1">
                <a:solidFill>
                  <a:srgbClr val="0B0A0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                                ↓</a:t>
            </a:r>
          </a:p>
          <a:p>
            <a:pPr algn="l">
              <a:lnSpc>
                <a:spcPts val="3219"/>
              </a:lnSpc>
            </a:pPr>
            <a:r>
              <a:rPr lang="en-US" sz="2299" b="1">
                <a:solidFill>
                  <a:srgbClr val="0B0A0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                       </a:t>
            </a:r>
            <a:r>
              <a:rPr lang="en-US" sz="22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Predicted Demand</a:t>
            </a:r>
          </a:p>
          <a:p>
            <a:pPr algn="l">
              <a:lnSpc>
                <a:spcPts val="3219"/>
              </a:lnSpc>
            </a:pPr>
            <a:endParaRPr lang="en-US" sz="2299">
              <a:solidFill>
                <a:srgbClr val="0B0A0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219"/>
              </a:lnSpc>
            </a:pPr>
            <a:r>
              <a:rPr lang="en-US" sz="2299" b="1">
                <a:solidFill>
                  <a:srgbClr val="0B0A0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2. Inventory Risk</a:t>
            </a:r>
          </a:p>
          <a:p>
            <a:pPr algn="l">
              <a:lnSpc>
                <a:spcPts val="3219"/>
              </a:lnSpc>
            </a:pPr>
            <a:r>
              <a:rPr lang="en-US" sz="2299" b="1">
                <a:solidFill>
                  <a:srgbClr val="0B0A0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                      </a:t>
            </a:r>
            <a:r>
              <a:rPr lang="en-US" sz="22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Fuzzy Logic</a:t>
            </a:r>
          </a:p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                    Stock + Demand + Lead Time</a:t>
            </a:r>
          </a:p>
          <a:p>
            <a:pPr algn="l">
              <a:lnSpc>
                <a:spcPts val="3219"/>
              </a:lnSpc>
            </a:pPr>
            <a:r>
              <a:rPr lang="en-US" sz="2299" b="1">
                <a:solidFill>
                  <a:srgbClr val="0B0A0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                               ↓</a:t>
            </a:r>
          </a:p>
          <a:p>
            <a:pPr algn="l">
              <a:lnSpc>
                <a:spcPts val="3219"/>
              </a:lnSpc>
            </a:pPr>
            <a:r>
              <a:rPr lang="en-US" sz="2299" b="1">
                <a:solidFill>
                  <a:srgbClr val="0B0A0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                      </a:t>
            </a:r>
            <a:r>
              <a:rPr lang="en-US" sz="22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Risk Level</a:t>
            </a:r>
          </a:p>
          <a:p>
            <a:pPr algn="l">
              <a:lnSpc>
                <a:spcPts val="3219"/>
              </a:lnSpc>
            </a:pPr>
            <a:endParaRPr lang="en-US" sz="2299">
              <a:solidFill>
                <a:srgbClr val="0B0A0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219"/>
              </a:lnSpc>
            </a:pPr>
            <a:r>
              <a:rPr lang="en-US" sz="2299" b="1">
                <a:solidFill>
                  <a:srgbClr val="0B0A0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3. Reorder Recommendation</a:t>
            </a:r>
          </a:p>
          <a:p>
            <a:pPr algn="l">
              <a:lnSpc>
                <a:spcPts val="3219"/>
              </a:lnSpc>
            </a:pPr>
            <a:r>
              <a:rPr lang="en-US" sz="2299" b="1">
                <a:solidFill>
                  <a:srgbClr val="0B0A0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                       </a:t>
            </a:r>
            <a:r>
              <a:rPr lang="en-US" sz="22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Rule-Based Reasoning</a:t>
            </a:r>
          </a:p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                     Demand + Stock + Risk</a:t>
            </a:r>
          </a:p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↓</a:t>
            </a:r>
          </a:p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                     Reorder Recommendation</a:t>
            </a:r>
          </a:p>
          <a:p>
            <a:pPr algn="l">
              <a:lnSpc>
                <a:spcPts val="3219"/>
              </a:lnSpc>
            </a:pPr>
            <a:endParaRPr lang="en-US" sz="2299">
              <a:solidFill>
                <a:srgbClr val="0B0A0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2610035" y="614260"/>
            <a:ext cx="13067930" cy="1143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80"/>
              </a:lnSpc>
            </a:pPr>
            <a:r>
              <a:rPr lang="en-US" sz="6800" b="1">
                <a:solidFill>
                  <a:srgbClr val="0B0A0A"/>
                </a:solidFill>
                <a:latin typeface="Agrandir Bold"/>
                <a:ea typeface="Agrandir Bold"/>
                <a:cs typeface="Agrandir Bold"/>
                <a:sym typeface="Agrandir Bold"/>
              </a:rPr>
              <a:t>How We Solve the Problem</a:t>
            </a:r>
          </a:p>
        </p:txBody>
      </p:sp>
      <p:sp>
        <p:nvSpPr>
          <p:cNvPr id="21" name="Freeform 21"/>
          <p:cNvSpPr/>
          <p:nvPr/>
        </p:nvSpPr>
        <p:spPr>
          <a:xfrm rot="-5400000">
            <a:off x="6659356" y="-254044"/>
            <a:ext cx="447626" cy="765214"/>
          </a:xfrm>
          <a:custGeom>
            <a:avLst/>
            <a:gdLst/>
            <a:ahLst/>
            <a:cxnLst/>
            <a:rect l="l" t="t" r="r" b="b"/>
            <a:pathLst>
              <a:path w="447626" h="765214">
                <a:moveTo>
                  <a:pt x="0" y="0"/>
                </a:moveTo>
                <a:lnTo>
                  <a:pt x="447626" y="0"/>
                </a:lnTo>
                <a:lnTo>
                  <a:pt x="447626" y="765214"/>
                </a:lnTo>
                <a:lnTo>
                  <a:pt x="0" y="7652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5445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 rot="-5400000">
            <a:off x="9155950" y="9837718"/>
            <a:ext cx="447626" cy="765214"/>
          </a:xfrm>
          <a:custGeom>
            <a:avLst/>
            <a:gdLst/>
            <a:ahLst/>
            <a:cxnLst/>
            <a:rect l="l" t="t" r="r" b="b"/>
            <a:pathLst>
              <a:path w="447626" h="765214">
                <a:moveTo>
                  <a:pt x="0" y="0"/>
                </a:moveTo>
                <a:lnTo>
                  <a:pt x="447625" y="0"/>
                </a:lnTo>
                <a:lnTo>
                  <a:pt x="447625" y="765214"/>
                </a:lnTo>
                <a:lnTo>
                  <a:pt x="0" y="7652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54452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355539" y="7760383"/>
            <a:ext cx="5327527" cy="2119202"/>
            <a:chOff x="0" y="0"/>
            <a:chExt cx="1038683" cy="4131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38683" cy="413171"/>
            </a:xfrm>
            <a:custGeom>
              <a:avLst/>
              <a:gdLst/>
              <a:ahLst/>
              <a:cxnLst/>
              <a:rect l="l" t="t" r="r" b="b"/>
              <a:pathLst>
                <a:path w="1038683" h="413171">
                  <a:moveTo>
                    <a:pt x="72660" y="0"/>
                  </a:moveTo>
                  <a:lnTo>
                    <a:pt x="966023" y="0"/>
                  </a:lnTo>
                  <a:cubicBezTo>
                    <a:pt x="1006152" y="0"/>
                    <a:pt x="1038683" y="32531"/>
                    <a:pt x="1038683" y="72660"/>
                  </a:cubicBezTo>
                  <a:lnTo>
                    <a:pt x="1038683" y="340511"/>
                  </a:lnTo>
                  <a:cubicBezTo>
                    <a:pt x="1038683" y="380640"/>
                    <a:pt x="1006152" y="413171"/>
                    <a:pt x="966023" y="413171"/>
                  </a:cubicBezTo>
                  <a:lnTo>
                    <a:pt x="72660" y="413171"/>
                  </a:lnTo>
                  <a:cubicBezTo>
                    <a:pt x="32531" y="413171"/>
                    <a:pt x="0" y="380640"/>
                    <a:pt x="0" y="340511"/>
                  </a:cubicBezTo>
                  <a:lnTo>
                    <a:pt x="0" y="72660"/>
                  </a:lnTo>
                  <a:cubicBezTo>
                    <a:pt x="0" y="32531"/>
                    <a:pt x="32531" y="0"/>
                    <a:pt x="72660" y="0"/>
                  </a:cubicBezTo>
                  <a:close/>
                </a:path>
              </a:pathLst>
            </a:custGeom>
            <a:blipFill>
              <a:blip r:embed="rId2"/>
              <a:stretch>
                <a:fillRect t="-20957" b="-4653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595791" y="8346053"/>
            <a:ext cx="473931" cy="473931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B0A0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7" name="AutoShape 7"/>
          <p:cNvSpPr/>
          <p:nvPr/>
        </p:nvSpPr>
        <p:spPr>
          <a:xfrm flipV="1">
            <a:off x="2017117" y="3563002"/>
            <a:ext cx="0" cy="1583570"/>
          </a:xfrm>
          <a:prstGeom prst="line">
            <a:avLst/>
          </a:prstGeom>
          <a:ln w="19050" cap="rnd">
            <a:solidFill>
              <a:srgbClr val="CDD4D8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flipV="1">
            <a:off x="2017117" y="5128966"/>
            <a:ext cx="0" cy="1488742"/>
          </a:xfrm>
          <a:prstGeom prst="line">
            <a:avLst/>
          </a:prstGeom>
          <a:ln w="19050" cap="rnd">
            <a:solidFill>
              <a:srgbClr val="CDD4D8"/>
            </a:solidFill>
            <a:prstDash val="solid"/>
            <a:headEnd type="oval" w="lg" len="lg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 flipH="1" flipV="1">
            <a:off x="2017117" y="6582409"/>
            <a:ext cx="0" cy="1565650"/>
          </a:xfrm>
          <a:prstGeom prst="line">
            <a:avLst/>
          </a:prstGeom>
          <a:ln w="19050" cap="rnd">
            <a:solidFill>
              <a:srgbClr val="CDD4D8"/>
            </a:solidFill>
            <a:prstDash val="solid"/>
            <a:headEnd type="oval" w="lg" len="lg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-520501" y="8819984"/>
            <a:ext cx="2537618" cy="876632"/>
          </a:xfrm>
          <a:custGeom>
            <a:avLst/>
            <a:gdLst/>
            <a:ahLst/>
            <a:cxnLst/>
            <a:rect l="l" t="t" r="r" b="b"/>
            <a:pathLst>
              <a:path w="2537618" h="876632">
                <a:moveTo>
                  <a:pt x="0" y="0"/>
                </a:moveTo>
                <a:lnTo>
                  <a:pt x="2537618" y="0"/>
                </a:lnTo>
                <a:lnTo>
                  <a:pt x="2537618" y="876632"/>
                </a:lnTo>
                <a:lnTo>
                  <a:pt x="0" y="8766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 rot="549406">
            <a:off x="-1392193" y="-2724063"/>
            <a:ext cx="2590371" cy="13348015"/>
            <a:chOff x="0" y="0"/>
            <a:chExt cx="682238" cy="351552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82238" cy="3515527"/>
            </a:xfrm>
            <a:custGeom>
              <a:avLst/>
              <a:gdLst/>
              <a:ahLst/>
              <a:cxnLst/>
              <a:rect l="l" t="t" r="r" b="b"/>
              <a:pathLst>
                <a:path w="682238" h="3515527">
                  <a:moveTo>
                    <a:pt x="0" y="0"/>
                  </a:moveTo>
                  <a:lnTo>
                    <a:pt x="682238" y="0"/>
                  </a:lnTo>
                  <a:lnTo>
                    <a:pt x="682238" y="3515527"/>
                  </a:lnTo>
                  <a:lnTo>
                    <a:pt x="0" y="3515527"/>
                  </a:lnTo>
                  <a:close/>
                </a:path>
              </a:pathLst>
            </a:custGeom>
            <a:solidFill>
              <a:srgbClr val="112041">
                <a:alpha val="76863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85725"/>
              <a:ext cx="682238" cy="36012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 rot="549406">
            <a:off x="17805173" y="3619070"/>
            <a:ext cx="1789592" cy="7003752"/>
            <a:chOff x="0" y="0"/>
            <a:chExt cx="471333" cy="184461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71333" cy="1844610"/>
            </a:xfrm>
            <a:custGeom>
              <a:avLst/>
              <a:gdLst/>
              <a:ahLst/>
              <a:cxnLst/>
              <a:rect l="l" t="t" r="r" b="b"/>
              <a:pathLst>
                <a:path w="471333" h="1844610">
                  <a:moveTo>
                    <a:pt x="0" y="0"/>
                  </a:moveTo>
                  <a:lnTo>
                    <a:pt x="471333" y="0"/>
                  </a:lnTo>
                  <a:lnTo>
                    <a:pt x="471333" y="1844610"/>
                  </a:lnTo>
                  <a:lnTo>
                    <a:pt x="0" y="1844610"/>
                  </a:lnTo>
                  <a:close/>
                </a:path>
              </a:pathLst>
            </a:custGeom>
            <a:solidFill>
              <a:srgbClr val="112041">
                <a:alpha val="76863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85725"/>
              <a:ext cx="471333" cy="19303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6595791" y="492019"/>
            <a:ext cx="2174549" cy="751208"/>
          </a:xfrm>
          <a:custGeom>
            <a:avLst/>
            <a:gdLst/>
            <a:ahLst/>
            <a:cxnLst/>
            <a:rect l="l" t="t" r="r" b="b"/>
            <a:pathLst>
              <a:path w="2174549" h="751208">
                <a:moveTo>
                  <a:pt x="0" y="0"/>
                </a:moveTo>
                <a:lnTo>
                  <a:pt x="2174549" y="0"/>
                </a:lnTo>
                <a:lnTo>
                  <a:pt x="2174549" y="751208"/>
                </a:lnTo>
                <a:lnTo>
                  <a:pt x="0" y="7512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6595791" y="6617708"/>
            <a:ext cx="804589" cy="804589"/>
          </a:xfrm>
          <a:custGeom>
            <a:avLst/>
            <a:gdLst/>
            <a:ahLst/>
            <a:cxnLst/>
            <a:rect l="l" t="t" r="r" b="b"/>
            <a:pathLst>
              <a:path w="804589" h="804589">
                <a:moveTo>
                  <a:pt x="0" y="0"/>
                </a:moveTo>
                <a:lnTo>
                  <a:pt x="804588" y="0"/>
                </a:lnTo>
                <a:lnTo>
                  <a:pt x="804588" y="804589"/>
                </a:lnTo>
                <a:lnTo>
                  <a:pt x="0" y="8045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 rot="-5400000">
            <a:off x="6659356" y="-254044"/>
            <a:ext cx="447626" cy="765214"/>
          </a:xfrm>
          <a:custGeom>
            <a:avLst/>
            <a:gdLst/>
            <a:ahLst/>
            <a:cxnLst/>
            <a:rect l="l" t="t" r="r" b="b"/>
            <a:pathLst>
              <a:path w="447626" h="765214">
                <a:moveTo>
                  <a:pt x="0" y="0"/>
                </a:moveTo>
                <a:lnTo>
                  <a:pt x="447626" y="0"/>
                </a:lnTo>
                <a:lnTo>
                  <a:pt x="447626" y="765214"/>
                </a:lnTo>
                <a:lnTo>
                  <a:pt x="0" y="7652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5445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 rot="-5400000">
            <a:off x="9155950" y="9837718"/>
            <a:ext cx="447626" cy="765214"/>
          </a:xfrm>
          <a:custGeom>
            <a:avLst/>
            <a:gdLst/>
            <a:ahLst/>
            <a:cxnLst/>
            <a:rect l="l" t="t" r="r" b="b"/>
            <a:pathLst>
              <a:path w="447626" h="765214">
                <a:moveTo>
                  <a:pt x="0" y="0"/>
                </a:moveTo>
                <a:lnTo>
                  <a:pt x="447625" y="0"/>
                </a:lnTo>
                <a:lnTo>
                  <a:pt x="447625" y="765214"/>
                </a:lnTo>
                <a:lnTo>
                  <a:pt x="0" y="7652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5445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2610035" y="614260"/>
            <a:ext cx="13067930" cy="1143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80"/>
              </a:lnSpc>
            </a:pPr>
            <a:r>
              <a:rPr lang="en-US" sz="6800" b="1">
                <a:solidFill>
                  <a:srgbClr val="0B0A0A"/>
                </a:solidFill>
                <a:latin typeface="Agrandir Bold"/>
                <a:ea typeface="Agrandir Bold"/>
                <a:cs typeface="Agrandir Bold"/>
                <a:sym typeface="Agrandir Bold"/>
              </a:rPr>
              <a:t>Technologies Used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36524BE9-F773-17F2-9C21-F9C4CC73D2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5447497"/>
              </p:ext>
            </p:extLst>
          </p:nvPr>
        </p:nvGraphicFramePr>
        <p:xfrm>
          <a:off x="3048000" y="2197782"/>
          <a:ext cx="10807533" cy="6622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73215">
                  <a:extLst>
                    <a:ext uri="{9D8B030D-6E8A-4147-A177-3AD203B41FA5}">
                      <a16:colId xmlns:a16="http://schemas.microsoft.com/office/drawing/2014/main" val="1636284399"/>
                    </a:ext>
                  </a:extLst>
                </a:gridCol>
                <a:gridCol w="7534318">
                  <a:extLst>
                    <a:ext uri="{9D8B030D-6E8A-4147-A177-3AD203B41FA5}">
                      <a16:colId xmlns:a16="http://schemas.microsoft.com/office/drawing/2014/main" val="730270535"/>
                    </a:ext>
                  </a:extLst>
                </a:gridCol>
              </a:tblGrid>
              <a:tr h="1103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b="1" dirty="0">
                          <a:effectLst/>
                        </a:rPr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b="1" dirty="0">
                          <a:effectLst/>
                        </a:rPr>
                        <a:t>Technologies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2443739"/>
                  </a:ext>
                </a:extLst>
              </a:tr>
              <a:tr h="1103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>
                          <a:effectLst/>
                        </a:rPr>
                        <a:t>Frontend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>
                          <a:effectLst/>
                        </a:rPr>
                        <a:t>React.js, JavaScript, Tailwind CSS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7524784"/>
                  </a:ext>
                </a:extLst>
              </a:tr>
              <a:tr h="1103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>
                          <a:effectLst/>
                        </a:rPr>
                        <a:t>Backend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>
                          <a:effectLst/>
                        </a:rPr>
                        <a:t>Node.js, Express.js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1923709"/>
                  </a:ext>
                </a:extLst>
              </a:tr>
              <a:tr h="1103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>
                          <a:effectLst/>
                        </a:rPr>
                        <a:t>AI Service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>
                          <a:effectLst/>
                        </a:rPr>
                        <a:t>Python, FastAPI, Uvicorn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4566069"/>
                  </a:ext>
                </a:extLst>
              </a:tr>
              <a:tr h="1103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>
                          <a:effectLst/>
                        </a:rPr>
                        <a:t>AI &amp; Decision Logic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dirty="0">
                          <a:effectLst/>
                        </a:rPr>
                        <a:t>Scikit-learn, Machine Learning, Fuzzy Logic, Rule-Based Reasoning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7505418"/>
                  </a:ext>
                </a:extLst>
              </a:tr>
              <a:tr h="1103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dirty="0">
                          <a:effectLst/>
                        </a:rPr>
                        <a:t>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dirty="0">
                          <a:effectLst/>
                        </a:rPr>
                        <a:t>MongoDB Atlas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46329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960473" y="6424921"/>
            <a:ext cx="5327527" cy="2119202"/>
            <a:chOff x="0" y="0"/>
            <a:chExt cx="1038683" cy="4131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38683" cy="413171"/>
            </a:xfrm>
            <a:custGeom>
              <a:avLst/>
              <a:gdLst/>
              <a:ahLst/>
              <a:cxnLst/>
              <a:rect l="l" t="t" r="r" b="b"/>
              <a:pathLst>
                <a:path w="1038683" h="413171">
                  <a:moveTo>
                    <a:pt x="72660" y="0"/>
                  </a:moveTo>
                  <a:lnTo>
                    <a:pt x="966023" y="0"/>
                  </a:lnTo>
                  <a:cubicBezTo>
                    <a:pt x="1006152" y="0"/>
                    <a:pt x="1038683" y="32531"/>
                    <a:pt x="1038683" y="72660"/>
                  </a:cubicBezTo>
                  <a:lnTo>
                    <a:pt x="1038683" y="340511"/>
                  </a:lnTo>
                  <a:cubicBezTo>
                    <a:pt x="1038683" y="380640"/>
                    <a:pt x="1006152" y="413171"/>
                    <a:pt x="966023" y="413171"/>
                  </a:cubicBezTo>
                  <a:lnTo>
                    <a:pt x="72660" y="413171"/>
                  </a:lnTo>
                  <a:cubicBezTo>
                    <a:pt x="32531" y="413171"/>
                    <a:pt x="0" y="380640"/>
                    <a:pt x="0" y="340511"/>
                  </a:cubicBezTo>
                  <a:lnTo>
                    <a:pt x="0" y="72660"/>
                  </a:lnTo>
                  <a:cubicBezTo>
                    <a:pt x="0" y="32531"/>
                    <a:pt x="32531" y="0"/>
                    <a:pt x="72660" y="0"/>
                  </a:cubicBezTo>
                  <a:close/>
                </a:path>
              </a:pathLst>
            </a:custGeom>
            <a:blipFill>
              <a:blip r:embed="rId2"/>
              <a:stretch>
                <a:fillRect t="-20957" b="-4653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595791" y="8346053"/>
            <a:ext cx="473931" cy="473931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B0A0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7" name="AutoShape 7"/>
          <p:cNvSpPr/>
          <p:nvPr/>
        </p:nvSpPr>
        <p:spPr>
          <a:xfrm flipV="1">
            <a:off x="2017117" y="3563002"/>
            <a:ext cx="0" cy="1583570"/>
          </a:xfrm>
          <a:prstGeom prst="line">
            <a:avLst/>
          </a:prstGeom>
          <a:ln w="19050" cap="rnd">
            <a:solidFill>
              <a:srgbClr val="CDD4D8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flipV="1">
            <a:off x="2017117" y="5128966"/>
            <a:ext cx="0" cy="1488742"/>
          </a:xfrm>
          <a:prstGeom prst="line">
            <a:avLst/>
          </a:prstGeom>
          <a:ln w="19050" cap="rnd">
            <a:solidFill>
              <a:srgbClr val="CDD4D8"/>
            </a:solidFill>
            <a:prstDash val="solid"/>
            <a:headEnd type="oval" w="lg" len="lg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 flipH="1" flipV="1">
            <a:off x="2017117" y="6582409"/>
            <a:ext cx="0" cy="1565650"/>
          </a:xfrm>
          <a:prstGeom prst="line">
            <a:avLst/>
          </a:prstGeom>
          <a:ln w="19050" cap="rnd">
            <a:solidFill>
              <a:srgbClr val="CDD4D8"/>
            </a:solidFill>
            <a:prstDash val="solid"/>
            <a:headEnd type="oval" w="lg" len="lg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-520501" y="8819984"/>
            <a:ext cx="2537618" cy="876632"/>
          </a:xfrm>
          <a:custGeom>
            <a:avLst/>
            <a:gdLst/>
            <a:ahLst/>
            <a:cxnLst/>
            <a:rect l="l" t="t" r="r" b="b"/>
            <a:pathLst>
              <a:path w="2537618" h="876632">
                <a:moveTo>
                  <a:pt x="0" y="0"/>
                </a:moveTo>
                <a:lnTo>
                  <a:pt x="2537618" y="0"/>
                </a:lnTo>
                <a:lnTo>
                  <a:pt x="2537618" y="876632"/>
                </a:lnTo>
                <a:lnTo>
                  <a:pt x="0" y="8766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 rot="549406">
            <a:off x="-1392193" y="-2724063"/>
            <a:ext cx="2590371" cy="13348015"/>
            <a:chOff x="0" y="0"/>
            <a:chExt cx="682238" cy="351552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82238" cy="3515527"/>
            </a:xfrm>
            <a:custGeom>
              <a:avLst/>
              <a:gdLst/>
              <a:ahLst/>
              <a:cxnLst/>
              <a:rect l="l" t="t" r="r" b="b"/>
              <a:pathLst>
                <a:path w="682238" h="3515527">
                  <a:moveTo>
                    <a:pt x="0" y="0"/>
                  </a:moveTo>
                  <a:lnTo>
                    <a:pt x="682238" y="0"/>
                  </a:lnTo>
                  <a:lnTo>
                    <a:pt x="682238" y="3515527"/>
                  </a:lnTo>
                  <a:lnTo>
                    <a:pt x="0" y="3515527"/>
                  </a:lnTo>
                  <a:close/>
                </a:path>
              </a:pathLst>
            </a:custGeom>
            <a:solidFill>
              <a:srgbClr val="112041">
                <a:alpha val="76863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85725"/>
              <a:ext cx="682238" cy="36012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 rot="549406">
            <a:off x="17805173" y="3619070"/>
            <a:ext cx="1789592" cy="7003752"/>
            <a:chOff x="0" y="0"/>
            <a:chExt cx="471333" cy="184461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71333" cy="1844610"/>
            </a:xfrm>
            <a:custGeom>
              <a:avLst/>
              <a:gdLst/>
              <a:ahLst/>
              <a:cxnLst/>
              <a:rect l="l" t="t" r="r" b="b"/>
              <a:pathLst>
                <a:path w="471333" h="1844610">
                  <a:moveTo>
                    <a:pt x="0" y="0"/>
                  </a:moveTo>
                  <a:lnTo>
                    <a:pt x="471333" y="0"/>
                  </a:lnTo>
                  <a:lnTo>
                    <a:pt x="471333" y="1844610"/>
                  </a:lnTo>
                  <a:lnTo>
                    <a:pt x="0" y="1844610"/>
                  </a:lnTo>
                  <a:close/>
                </a:path>
              </a:pathLst>
            </a:custGeom>
            <a:solidFill>
              <a:srgbClr val="112041">
                <a:alpha val="76863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85725"/>
              <a:ext cx="471333" cy="19303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6595791" y="492019"/>
            <a:ext cx="2174549" cy="751208"/>
          </a:xfrm>
          <a:custGeom>
            <a:avLst/>
            <a:gdLst/>
            <a:ahLst/>
            <a:cxnLst/>
            <a:rect l="l" t="t" r="r" b="b"/>
            <a:pathLst>
              <a:path w="2174549" h="751208">
                <a:moveTo>
                  <a:pt x="0" y="0"/>
                </a:moveTo>
                <a:lnTo>
                  <a:pt x="2174549" y="0"/>
                </a:lnTo>
                <a:lnTo>
                  <a:pt x="2174549" y="751208"/>
                </a:lnTo>
                <a:lnTo>
                  <a:pt x="0" y="7512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6331580" y="5404272"/>
            <a:ext cx="804589" cy="804589"/>
          </a:xfrm>
          <a:custGeom>
            <a:avLst/>
            <a:gdLst/>
            <a:ahLst/>
            <a:cxnLst/>
            <a:rect l="l" t="t" r="r" b="b"/>
            <a:pathLst>
              <a:path w="804589" h="804589">
                <a:moveTo>
                  <a:pt x="0" y="0"/>
                </a:moveTo>
                <a:lnTo>
                  <a:pt x="804589" y="0"/>
                </a:lnTo>
                <a:lnTo>
                  <a:pt x="804589" y="804588"/>
                </a:lnTo>
                <a:lnTo>
                  <a:pt x="0" y="8045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2753700" y="4098424"/>
            <a:ext cx="13067930" cy="1708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999"/>
              </a:lnSpc>
            </a:pPr>
            <a:r>
              <a:rPr lang="en-US" sz="9999" b="1">
                <a:solidFill>
                  <a:srgbClr val="0B0A0A"/>
                </a:solidFill>
                <a:latin typeface="Agrandir Bold"/>
                <a:ea typeface="Agrandir Bold"/>
                <a:cs typeface="Agrandir Bold"/>
                <a:sym typeface="Agrandir Bold"/>
              </a:rPr>
              <a:t>THANK YOU!</a:t>
            </a:r>
          </a:p>
        </p:txBody>
      </p:sp>
      <p:sp>
        <p:nvSpPr>
          <p:cNvPr id="20" name="Freeform 20"/>
          <p:cNvSpPr/>
          <p:nvPr/>
        </p:nvSpPr>
        <p:spPr>
          <a:xfrm rot="-5400000">
            <a:off x="6659356" y="-254044"/>
            <a:ext cx="447626" cy="765214"/>
          </a:xfrm>
          <a:custGeom>
            <a:avLst/>
            <a:gdLst/>
            <a:ahLst/>
            <a:cxnLst/>
            <a:rect l="l" t="t" r="r" b="b"/>
            <a:pathLst>
              <a:path w="447626" h="765214">
                <a:moveTo>
                  <a:pt x="0" y="0"/>
                </a:moveTo>
                <a:lnTo>
                  <a:pt x="447626" y="0"/>
                </a:lnTo>
                <a:lnTo>
                  <a:pt x="447626" y="765214"/>
                </a:lnTo>
                <a:lnTo>
                  <a:pt x="0" y="7652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5445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 rot="-5400000">
            <a:off x="9155950" y="9837718"/>
            <a:ext cx="447626" cy="765214"/>
          </a:xfrm>
          <a:custGeom>
            <a:avLst/>
            <a:gdLst/>
            <a:ahLst/>
            <a:cxnLst/>
            <a:rect l="l" t="t" r="r" b="b"/>
            <a:pathLst>
              <a:path w="447626" h="765214">
                <a:moveTo>
                  <a:pt x="0" y="0"/>
                </a:moveTo>
                <a:lnTo>
                  <a:pt x="447625" y="0"/>
                </a:lnTo>
                <a:lnTo>
                  <a:pt x="447625" y="765214"/>
                </a:lnTo>
                <a:lnTo>
                  <a:pt x="0" y="7652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54452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242</Words>
  <Application>Microsoft Office PowerPoint</Application>
  <PresentationFormat>Custom</PresentationFormat>
  <Paragraphs>66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Poppins Bold</vt:lpstr>
      <vt:lpstr>Arial</vt:lpstr>
      <vt:lpstr>Poppins Semi-Bold</vt:lpstr>
      <vt:lpstr>Agrandir Bold</vt:lpstr>
      <vt:lpstr>Poppins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</dc:title>
  <dc:creator>surani thathsarani</dc:creator>
  <cp:lastModifiedBy>surani perera</cp:lastModifiedBy>
  <cp:revision>2</cp:revision>
  <dcterms:created xsi:type="dcterms:W3CDTF">2006-08-16T00:00:00Z</dcterms:created>
  <dcterms:modified xsi:type="dcterms:W3CDTF">2026-10-18T03:36:37Z</dcterms:modified>
  <dc:identifier>DAHW1KRLv7I</dc:identifier>
</cp:coreProperties>
</file>